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pit Chandrakant Tare" userId="5ccf42ac-2610-43ff-9142-ddeb64b5806e" providerId="ADAL" clId="{B03404D7-F2F0-4E71-9804-A8BF456B4B0B}"/>
    <pc:docChg chg="custSel delSld modSld">
      <pc:chgData name="Alpit Chandrakant Tare" userId="5ccf42ac-2610-43ff-9142-ddeb64b5806e" providerId="ADAL" clId="{B03404D7-F2F0-4E71-9804-A8BF456B4B0B}" dt="2026-03-18T05:34:01.891" v="12" actId="47"/>
      <pc:docMkLst>
        <pc:docMk/>
      </pc:docMkLst>
      <pc:sldChg chg="modSp mod">
        <pc:chgData name="Alpit Chandrakant Tare" userId="5ccf42ac-2610-43ff-9142-ddeb64b5806e" providerId="ADAL" clId="{B03404D7-F2F0-4E71-9804-A8BF456B4B0B}" dt="2026-03-18T05:29:09.181" v="0" actId="1076"/>
        <pc:sldMkLst>
          <pc:docMk/>
          <pc:sldMk cId="0" sldId="259"/>
        </pc:sldMkLst>
        <pc:spChg chg="mod">
          <ac:chgData name="Alpit Chandrakant Tare" userId="5ccf42ac-2610-43ff-9142-ddeb64b5806e" providerId="ADAL" clId="{B03404D7-F2F0-4E71-9804-A8BF456B4B0B}" dt="2026-03-18T05:29:09.181" v="0" actId="1076"/>
          <ac:spMkLst>
            <pc:docMk/>
            <pc:sldMk cId="0" sldId="259"/>
            <ac:spMk id="137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09.181" v="0" actId="1076"/>
          <ac:spMkLst>
            <pc:docMk/>
            <pc:sldMk cId="0" sldId="259"/>
            <ac:spMk id="138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09.181" v="0" actId="1076"/>
          <ac:spMkLst>
            <pc:docMk/>
            <pc:sldMk cId="0" sldId="259"/>
            <ac:spMk id="139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09.181" v="0" actId="1076"/>
          <ac:spMkLst>
            <pc:docMk/>
            <pc:sldMk cId="0" sldId="259"/>
            <ac:spMk id="140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09.181" v="0" actId="1076"/>
          <ac:spMkLst>
            <pc:docMk/>
            <pc:sldMk cId="0" sldId="259"/>
            <ac:spMk id="141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09.181" v="0" actId="1076"/>
          <ac:spMkLst>
            <pc:docMk/>
            <pc:sldMk cId="0" sldId="259"/>
            <ac:spMk id="142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09.181" v="0" actId="1076"/>
          <ac:spMkLst>
            <pc:docMk/>
            <pc:sldMk cId="0" sldId="259"/>
            <ac:spMk id="143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09.181" v="0" actId="1076"/>
          <ac:spMkLst>
            <pc:docMk/>
            <pc:sldMk cId="0" sldId="259"/>
            <ac:spMk id="144" creationId="{00000000-0000-0000-0000-000000000000}"/>
          </ac:spMkLst>
        </pc:spChg>
      </pc:sldChg>
      <pc:sldChg chg="modSp mod">
        <pc:chgData name="Alpit Chandrakant Tare" userId="5ccf42ac-2610-43ff-9142-ddeb64b5806e" providerId="ADAL" clId="{B03404D7-F2F0-4E71-9804-A8BF456B4B0B}" dt="2026-03-18T05:29:39.477" v="2" actId="1076"/>
        <pc:sldMkLst>
          <pc:docMk/>
          <pc:sldMk cId="0" sldId="260"/>
        </pc:sldMkLst>
        <pc:spChg chg="mod">
          <ac:chgData name="Alpit Chandrakant Tare" userId="5ccf42ac-2610-43ff-9142-ddeb64b5806e" providerId="ADAL" clId="{B03404D7-F2F0-4E71-9804-A8BF456B4B0B}" dt="2026-03-18T05:29:39.477" v="2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32.463" v="1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32.463" v="1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32.463" v="1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32.463" v="1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32.463" v="1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32.463" v="1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32.463" v="1" actId="1076"/>
          <ac:spMkLst>
            <pc:docMk/>
            <pc:sldMk cId="0" sldId="260"/>
            <ac:spMk id="49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32.463" v="1" actId="1076"/>
          <ac:spMkLst>
            <pc:docMk/>
            <pc:sldMk cId="0" sldId="260"/>
            <ac:spMk id="51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32.463" v="1" actId="1076"/>
          <ac:spMkLst>
            <pc:docMk/>
            <pc:sldMk cId="0" sldId="260"/>
            <ac:spMk id="53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32.463" v="1" actId="1076"/>
          <ac:spMkLst>
            <pc:docMk/>
            <pc:sldMk cId="0" sldId="260"/>
            <ac:spMk id="67" creationId="{00000000-0000-0000-0000-000000000000}"/>
          </ac:spMkLst>
        </pc:spChg>
      </pc:sldChg>
      <pc:sldChg chg="modSp mod">
        <pc:chgData name="Alpit Chandrakant Tare" userId="5ccf42ac-2610-43ff-9142-ddeb64b5806e" providerId="ADAL" clId="{B03404D7-F2F0-4E71-9804-A8BF456B4B0B}" dt="2026-03-18T05:30:44.255" v="8" actId="1076"/>
        <pc:sldMkLst>
          <pc:docMk/>
          <pc:sldMk cId="0" sldId="261"/>
        </pc:sldMkLst>
        <pc:spChg chg="mod">
          <ac:chgData name="Alpit Chandrakant Tare" userId="5ccf42ac-2610-43ff-9142-ddeb64b5806e" providerId="ADAL" clId="{B03404D7-F2F0-4E71-9804-A8BF456B4B0B}" dt="2026-03-18T05:30:44.255" v="8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0:31.077" v="6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0:39.096" v="7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55.577" v="3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55.577" v="3" actId="107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55.577" v="3" actId="107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55.577" v="3" actId="1076"/>
          <ac:spMkLst>
            <pc:docMk/>
            <pc:sldMk cId="0" sldId="261"/>
            <ac:spMk id="38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55.577" v="3" actId="1076"/>
          <ac:spMkLst>
            <pc:docMk/>
            <pc:sldMk cId="0" sldId="261"/>
            <ac:spMk id="50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55.577" v="3" actId="1076"/>
          <ac:spMkLst>
            <pc:docMk/>
            <pc:sldMk cId="0" sldId="261"/>
            <ac:spMk id="59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55.577" v="3" actId="1076"/>
          <ac:spMkLst>
            <pc:docMk/>
            <pc:sldMk cId="0" sldId="261"/>
            <ac:spMk id="73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55.577" v="3" actId="1076"/>
          <ac:spMkLst>
            <pc:docMk/>
            <pc:sldMk cId="0" sldId="261"/>
            <ac:spMk id="85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55.577" v="3" actId="1076"/>
          <ac:spMkLst>
            <pc:docMk/>
            <pc:sldMk cId="0" sldId="261"/>
            <ac:spMk id="88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29:55.577" v="3" actId="1076"/>
          <ac:spMkLst>
            <pc:docMk/>
            <pc:sldMk cId="0" sldId="261"/>
            <ac:spMk id="93" creationId="{00000000-0000-0000-0000-000000000000}"/>
          </ac:spMkLst>
        </pc:spChg>
      </pc:sldChg>
      <pc:sldChg chg="delSp modSp mod">
        <pc:chgData name="Alpit Chandrakant Tare" userId="5ccf42ac-2610-43ff-9142-ddeb64b5806e" providerId="ADAL" clId="{B03404D7-F2F0-4E71-9804-A8BF456B4B0B}" dt="2026-03-18T05:31:53.475" v="11" actId="478"/>
        <pc:sldMkLst>
          <pc:docMk/>
          <pc:sldMk cId="0" sldId="262"/>
        </pc:sldMkLst>
        <pc:spChg chg="del mod">
          <ac:chgData name="Alpit Chandrakant Tare" userId="5ccf42ac-2610-43ff-9142-ddeb64b5806e" providerId="ADAL" clId="{B03404D7-F2F0-4E71-9804-A8BF456B4B0B}" dt="2026-03-18T05:31:53.475" v="11" actId="4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31.995" v="9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31.995" v="9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31.995" v="9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44.376" v="10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44.376" v="10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44.376" v="10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44.376" v="10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44.376" v="10" actId="1076"/>
          <ac:spMkLst>
            <pc:docMk/>
            <pc:sldMk cId="0" sldId="262"/>
            <ac:spMk id="45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44.376" v="10" actId="1076"/>
          <ac:spMkLst>
            <pc:docMk/>
            <pc:sldMk cId="0" sldId="262"/>
            <ac:spMk id="52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44.376" v="10" actId="1076"/>
          <ac:spMkLst>
            <pc:docMk/>
            <pc:sldMk cId="0" sldId="262"/>
            <ac:spMk id="70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44.376" v="10" actId="1076"/>
          <ac:spMkLst>
            <pc:docMk/>
            <pc:sldMk cId="0" sldId="262"/>
            <ac:spMk id="72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44.376" v="10" actId="1076"/>
          <ac:spMkLst>
            <pc:docMk/>
            <pc:sldMk cId="0" sldId="262"/>
            <ac:spMk id="77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18T05:31:44.376" v="10" actId="1076"/>
          <ac:spMkLst>
            <pc:docMk/>
            <pc:sldMk cId="0" sldId="262"/>
            <ac:spMk id="87" creationId="{00000000-0000-0000-0000-000000000000}"/>
          </ac:spMkLst>
        </pc:spChg>
      </pc:sldChg>
      <pc:sldChg chg="del">
        <pc:chgData name="Alpit Chandrakant Tare" userId="5ccf42ac-2610-43ff-9142-ddeb64b5806e" providerId="ADAL" clId="{B03404D7-F2F0-4E71-9804-A8BF456B4B0B}" dt="2026-03-18T05:34:01.891" v="12" actId="47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198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A50BC0-DD04-0E0C-03AA-55970218081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76925" y="6642100"/>
            <a:ext cx="463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5.png"/><Relationship Id="rId18" Type="http://schemas.openxmlformats.org/officeDocument/2006/relationships/image" Target="../media/image43.png"/><Relationship Id="rId3" Type="http://schemas.openxmlformats.org/officeDocument/2006/relationships/image" Target="../media/image4.png"/><Relationship Id="rId21" Type="http://schemas.openxmlformats.org/officeDocument/2006/relationships/image" Target="../media/image46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6.png"/><Relationship Id="rId19" Type="http://schemas.openxmlformats.org/officeDocument/2006/relationships/image" Target="../media/image44.png"/><Relationship Id="rId4" Type="http://schemas.openxmlformats.org/officeDocument/2006/relationships/image" Target="../media/image19.png"/><Relationship Id="rId9" Type="http://schemas.openxmlformats.org/officeDocument/2006/relationships/image" Target="../media/image35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31.png"/><Relationship Id="rId15" Type="http://schemas.openxmlformats.org/officeDocument/2006/relationships/image" Target="../media/image16.png"/><Relationship Id="rId10" Type="http://schemas.openxmlformats.org/officeDocument/2006/relationships/image" Target="../media/image53.png"/><Relationship Id="rId4" Type="http://schemas.openxmlformats.org/officeDocument/2006/relationships/image" Target="../media/image19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65.png"/><Relationship Id="rId18" Type="http://schemas.openxmlformats.org/officeDocument/2006/relationships/image" Target="../media/image69.png"/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12" Type="http://schemas.openxmlformats.org/officeDocument/2006/relationships/image" Target="../media/image64.pn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53.png"/><Relationship Id="rId5" Type="http://schemas.openxmlformats.org/officeDocument/2006/relationships/image" Target="../media/image32.png"/><Relationship Id="rId15" Type="http://schemas.openxmlformats.org/officeDocument/2006/relationships/image" Target="../media/image50.png"/><Relationship Id="rId10" Type="http://schemas.openxmlformats.org/officeDocument/2006/relationships/image" Target="../media/image63.png"/><Relationship Id="rId4" Type="http://schemas.openxmlformats.org/officeDocument/2006/relationships/image" Target="../media/image60.png"/><Relationship Id="rId9" Type="http://schemas.openxmlformats.org/officeDocument/2006/relationships/image" Target="../media/image62.png"/><Relationship Id="rId14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6.png"/><Relationship Id="rId3" Type="http://schemas.openxmlformats.org/officeDocument/2006/relationships/image" Target="../media/image4.png"/><Relationship Id="rId7" Type="http://schemas.openxmlformats.org/officeDocument/2006/relationships/image" Target="../media/image71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4.png"/><Relationship Id="rId5" Type="http://schemas.openxmlformats.org/officeDocument/2006/relationships/image" Target="../media/image53.png"/><Relationship Id="rId15" Type="http://schemas.openxmlformats.org/officeDocument/2006/relationships/image" Target="../media/image78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73.png"/><Relationship Id="rId14" Type="http://schemas.openxmlformats.org/officeDocument/2006/relationships/image" Target="../media/image7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5.png"/><Relationship Id="rId3" Type="http://schemas.openxmlformats.org/officeDocument/2006/relationships/image" Target="../media/image4.png"/><Relationship Id="rId7" Type="http://schemas.openxmlformats.org/officeDocument/2006/relationships/image" Target="../media/image53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84.png"/><Relationship Id="rId5" Type="http://schemas.openxmlformats.org/officeDocument/2006/relationships/image" Target="../media/image80.png"/><Relationship Id="rId10" Type="http://schemas.openxmlformats.org/officeDocument/2006/relationships/image" Target="../media/image83.png"/><Relationship Id="rId4" Type="http://schemas.openxmlformats.org/officeDocument/2006/relationships/image" Target="../media/image79.png"/><Relationship Id="rId9" Type="http://schemas.openxmlformats.org/officeDocument/2006/relationships/image" Target="../media/image82.png"/><Relationship Id="rId1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26" Type="http://schemas.openxmlformats.org/officeDocument/2006/relationships/image" Target="../media/image108.png"/><Relationship Id="rId39" Type="http://schemas.openxmlformats.org/officeDocument/2006/relationships/image" Target="../media/image121.png"/><Relationship Id="rId21" Type="http://schemas.openxmlformats.org/officeDocument/2006/relationships/image" Target="../media/image103.png"/><Relationship Id="rId34" Type="http://schemas.openxmlformats.org/officeDocument/2006/relationships/image" Target="../media/image116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5" Type="http://schemas.openxmlformats.org/officeDocument/2006/relationships/image" Target="../media/image107.png"/><Relationship Id="rId33" Type="http://schemas.openxmlformats.org/officeDocument/2006/relationships/image" Target="../media/image115.png"/><Relationship Id="rId38" Type="http://schemas.openxmlformats.org/officeDocument/2006/relationships/image" Target="../media/image12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29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24" Type="http://schemas.openxmlformats.org/officeDocument/2006/relationships/image" Target="../media/image106.png"/><Relationship Id="rId32" Type="http://schemas.openxmlformats.org/officeDocument/2006/relationships/image" Target="../media/image114.png"/><Relationship Id="rId37" Type="http://schemas.openxmlformats.org/officeDocument/2006/relationships/image" Target="../media/image119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23" Type="http://schemas.openxmlformats.org/officeDocument/2006/relationships/image" Target="../media/image105.png"/><Relationship Id="rId28" Type="http://schemas.openxmlformats.org/officeDocument/2006/relationships/image" Target="../media/image110.png"/><Relationship Id="rId36" Type="http://schemas.openxmlformats.org/officeDocument/2006/relationships/image" Target="../media/image118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31" Type="http://schemas.openxmlformats.org/officeDocument/2006/relationships/image" Target="../media/image113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Relationship Id="rId22" Type="http://schemas.openxmlformats.org/officeDocument/2006/relationships/image" Target="../media/image104.png"/><Relationship Id="rId27" Type="http://schemas.openxmlformats.org/officeDocument/2006/relationships/image" Target="../media/image109.png"/><Relationship Id="rId30" Type="http://schemas.openxmlformats.org/officeDocument/2006/relationships/image" Target="../media/image112.png"/><Relationship Id="rId35" Type="http://schemas.openxmlformats.org/officeDocument/2006/relationships/image" Target="../media/image117.png"/><Relationship Id="rId8" Type="http://schemas.openxmlformats.org/officeDocument/2006/relationships/image" Target="../media/image90.png"/><Relationship Id="rId3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4.pn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382305" y="-952805"/>
            <a:ext cx="5715000" cy="5715000"/>
          </a:xfrm>
          <a:prstGeom prst="ellipse">
            <a:avLst/>
          </a:prstGeom>
          <a:noFill/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8858707" y="476402"/>
            <a:ext cx="3810305" cy="3810305"/>
          </a:xfrm>
          <a:prstGeom prst="ellipse">
            <a:avLst/>
          </a:prstGeom>
          <a:noFill/>
          <a:ln w="12700">
            <a:solidFill>
              <a:srgbClr val="3B82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1220602" y="61155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1334902" y="61155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1449202" y="61155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1563502" y="61155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1677802" y="61155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11220602" y="62298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1334902" y="62298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1449202" y="62298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1563502" y="62298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1677802" y="62298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1220602" y="63441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1334902" y="63441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11449202" y="63441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11563502" y="63441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11677802" y="6344107"/>
            <a:ext cx="38405" cy="38405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571500" y="0"/>
            <a:ext cx="38405" cy="6858000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 l="-4038" r="-4038"/>
          <a:stretch/>
        </p:blipFill>
        <p:spPr>
          <a:xfrm>
            <a:off x="1143000" y="47549"/>
            <a:ext cx="256946" cy="1901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14246" y="0"/>
            <a:ext cx="32964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60A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CMI Network-as-a-Product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143000" y="514807"/>
            <a:ext cx="10649102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&amp; Network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</a:t>
            </a:r>
            <a:endParaRPr lang="en-US" sz="5400" dirty="0"/>
          </a:p>
        </p:txBody>
      </p:sp>
      <p:sp>
        <p:nvSpPr>
          <p:cNvPr id="27" name="Text 21"/>
          <p:cNvSpPr txBox="1"/>
          <p:nvPr/>
        </p:nvSpPr>
        <p:spPr>
          <a:xfrm>
            <a:off x="1143000" y="2252167"/>
            <a:ext cx="7720279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 within CMI NaaP: Integrating Lifecycle Control with Decision Intelligence</a:t>
            </a:r>
            <a:endParaRPr lang="en-US" sz="2100" dirty="0"/>
          </a:p>
        </p:txBody>
      </p:sp>
      <p:sp>
        <p:nvSpPr>
          <p:cNvPr id="30" name="Shape 23"/>
          <p:cNvSpPr/>
          <p:nvPr/>
        </p:nvSpPr>
        <p:spPr>
          <a:xfrm>
            <a:off x="1143000" y="5553151"/>
            <a:ext cx="104771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 txBox="1"/>
          <p:nvPr/>
        </p:nvSpPr>
        <p:spPr>
          <a:xfrm>
            <a:off x="1143000" y="6143854"/>
            <a:ext cx="3410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4737506" y="6143854"/>
            <a:ext cx="3410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8331098" y="5867705"/>
            <a:ext cx="3410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8331098" y="6143854"/>
            <a:ext cx="3410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 18,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4924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Case to AMDL Mapping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895198"/>
            <a:ext cx="5496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 of AI capabilities with lifecycle activities &amp; current status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408615" y="923544"/>
            <a:ext cx="12134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&amp; Gaps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1500" y="1953158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71500" y="1686154"/>
            <a:ext cx="3391510" cy="1728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Case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86200" y="1953158"/>
            <a:ext cx="16578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886200" y="1686154"/>
            <a:ext cx="1723644" cy="1728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AMDL Alignment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44007" y="1953158"/>
            <a:ext cx="19906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544007" y="1686154"/>
            <a:ext cx="2067458" cy="1728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Capability Status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531913" y="1953158"/>
            <a:ext cx="4095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531913" y="1686154"/>
            <a:ext cx="4172407" cy="1728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Missing Components / Gaps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2038198"/>
            <a:ext cx="3314700" cy="6858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71754" y="2210105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47649" y="2305202"/>
            <a:ext cx="190195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28954" y="2281428"/>
            <a:ext cx="23125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Operations Agent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886200" y="2038198"/>
            <a:ext cx="1657807" cy="6858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076395" y="2266798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4048049" y="2266798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343400" y="2266798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4315054" y="2266798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610405" y="2266798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4581144" y="2266798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876495" y="2266798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4848149" y="2266798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6001207" y="2038198"/>
            <a:ext cx="1610258" cy="6858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190500" tIns="152400" rIns="190500" bIns="152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Partial </a:t>
            </a:r>
            <a:endParaRPr lang="en-US" sz="12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38444" y="2328977"/>
            <a:ext cx="105156" cy="105156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7531913" y="2038198"/>
            <a:ext cx="4088282" cy="68580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7723022" y="2266798"/>
            <a:ext cx="38405" cy="38405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7818120" y="2200046"/>
            <a:ext cx="221101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AI + Telemetry platform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7723022" y="2457907"/>
            <a:ext cx="38405" cy="38405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 txBox="1"/>
          <p:nvPr/>
        </p:nvSpPr>
        <p:spPr>
          <a:xfrm>
            <a:off x="7818120" y="2391156"/>
            <a:ext cx="241401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recommendation engine</a:t>
            </a:r>
            <a:endParaRPr lang="en-US" sz="9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2800807"/>
            <a:ext cx="3314700" cy="68580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771754" y="2971800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66851" y="3066898"/>
            <a:ext cx="152705" cy="15270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228954" y="3043123"/>
            <a:ext cx="16550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Self-Healing Network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3886200" y="2800807"/>
            <a:ext cx="1657807" cy="6858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3"/>
          <p:cNvSpPr/>
          <p:nvPr/>
        </p:nvSpPr>
        <p:spPr>
          <a:xfrm>
            <a:off x="4076395" y="3029407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 txBox="1"/>
          <p:nvPr/>
        </p:nvSpPr>
        <p:spPr>
          <a:xfrm>
            <a:off x="4048049" y="3029407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4343400" y="3029407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6"/>
          <p:cNvSpPr txBox="1"/>
          <p:nvPr/>
        </p:nvSpPr>
        <p:spPr>
          <a:xfrm>
            <a:off x="4315054" y="3029407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4610405" y="3029407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 txBox="1"/>
          <p:nvPr/>
        </p:nvSpPr>
        <p:spPr>
          <a:xfrm>
            <a:off x="4581144" y="3029407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800" dirty="0"/>
          </a:p>
        </p:txBody>
      </p:sp>
      <p:sp>
        <p:nvSpPr>
          <p:cNvPr id="48" name="Shape 39"/>
          <p:cNvSpPr/>
          <p:nvPr/>
        </p:nvSpPr>
        <p:spPr>
          <a:xfrm>
            <a:off x="4876495" y="3029407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0"/>
          <p:cNvSpPr txBox="1"/>
          <p:nvPr/>
        </p:nvSpPr>
        <p:spPr>
          <a:xfrm>
            <a:off x="4848149" y="3029407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800" dirty="0"/>
          </a:p>
        </p:txBody>
      </p:sp>
      <p:sp>
        <p:nvSpPr>
          <p:cNvPr id="50" name="Text 41"/>
          <p:cNvSpPr txBox="1"/>
          <p:nvPr/>
        </p:nvSpPr>
        <p:spPr>
          <a:xfrm>
            <a:off x="5972861" y="2800807"/>
            <a:ext cx="1638605" cy="6858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190500" tIns="152400" rIns="190500" bIns="152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Requires Uplift </a:t>
            </a:r>
            <a:endParaRPr lang="en-US" sz="120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9"/>
          <a:srcRect t="-1958" b="-1958"/>
          <a:stretch/>
        </p:blipFill>
        <p:spPr>
          <a:xfrm>
            <a:off x="5838444" y="3090672"/>
            <a:ext cx="75895" cy="105156"/>
          </a:xfrm>
          <a:prstGeom prst="rect">
            <a:avLst/>
          </a:prstGeom>
        </p:spPr>
      </p:pic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7531913" y="2800807"/>
            <a:ext cx="4088282" cy="685800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7723022" y="3029407"/>
            <a:ext cx="38405" cy="38405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3"/>
          <p:cNvSpPr txBox="1"/>
          <p:nvPr/>
        </p:nvSpPr>
        <p:spPr>
          <a:xfrm>
            <a:off x="7818120" y="2962656"/>
            <a:ext cx="22713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 automation framework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7723022" y="3219602"/>
            <a:ext cx="38405" cy="38405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5"/>
          <p:cNvSpPr txBox="1"/>
          <p:nvPr/>
        </p:nvSpPr>
        <p:spPr>
          <a:xfrm>
            <a:off x="7818120" y="3152851"/>
            <a:ext cx="26417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engine &amp; safe execution guardrails</a:t>
            </a:r>
            <a:endParaRPr lang="en-US" sz="900" dirty="0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10"/>
          <a:srcRect l="-11" r="-11"/>
          <a:stretch/>
        </p:blipFill>
        <p:spPr>
          <a:xfrm>
            <a:off x="571500" y="3562502"/>
            <a:ext cx="3314700" cy="666598"/>
          </a:xfrm>
          <a:prstGeom prst="rect">
            <a:avLst/>
          </a:prstGeom>
        </p:spPr>
      </p:pic>
      <p:sp>
        <p:nvSpPr>
          <p:cNvPr id="58" name="Shape 46"/>
          <p:cNvSpPr/>
          <p:nvPr/>
        </p:nvSpPr>
        <p:spPr>
          <a:xfrm>
            <a:off x="771754" y="3724351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6851" y="3819449"/>
            <a:ext cx="152705" cy="152705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1228954" y="3795674"/>
            <a:ext cx="15078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Capacity</a:t>
            </a:r>
            <a:endParaRPr lang="en-US" sz="1000" dirty="0"/>
          </a:p>
        </p:txBody>
      </p:sp>
      <p:sp>
        <p:nvSpPr>
          <p:cNvPr id="61" name="Shape 48"/>
          <p:cNvSpPr/>
          <p:nvPr/>
        </p:nvSpPr>
        <p:spPr>
          <a:xfrm>
            <a:off x="3886200" y="3562502"/>
            <a:ext cx="1657807" cy="66659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49"/>
          <p:cNvSpPr/>
          <p:nvPr/>
        </p:nvSpPr>
        <p:spPr>
          <a:xfrm>
            <a:off x="4076395" y="3781044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0"/>
          <p:cNvSpPr txBox="1"/>
          <p:nvPr/>
        </p:nvSpPr>
        <p:spPr>
          <a:xfrm>
            <a:off x="4048049" y="3781044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800" dirty="0"/>
          </a:p>
        </p:txBody>
      </p:sp>
      <p:sp>
        <p:nvSpPr>
          <p:cNvPr id="64" name="Shape 51"/>
          <p:cNvSpPr/>
          <p:nvPr/>
        </p:nvSpPr>
        <p:spPr>
          <a:xfrm>
            <a:off x="4343400" y="3781044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2"/>
          <p:cNvSpPr txBox="1"/>
          <p:nvPr/>
        </p:nvSpPr>
        <p:spPr>
          <a:xfrm>
            <a:off x="4315054" y="3781044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800" dirty="0"/>
          </a:p>
        </p:txBody>
      </p:sp>
      <p:sp>
        <p:nvSpPr>
          <p:cNvPr id="66" name="Shape 53"/>
          <p:cNvSpPr/>
          <p:nvPr/>
        </p:nvSpPr>
        <p:spPr>
          <a:xfrm>
            <a:off x="4610405" y="3781044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4"/>
          <p:cNvSpPr txBox="1"/>
          <p:nvPr/>
        </p:nvSpPr>
        <p:spPr>
          <a:xfrm>
            <a:off x="4581144" y="3781044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800" dirty="0"/>
          </a:p>
        </p:txBody>
      </p:sp>
      <p:sp>
        <p:nvSpPr>
          <p:cNvPr id="68" name="Shape 55"/>
          <p:cNvSpPr/>
          <p:nvPr/>
        </p:nvSpPr>
        <p:spPr>
          <a:xfrm>
            <a:off x="4876495" y="3781044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6"/>
          <p:cNvSpPr txBox="1"/>
          <p:nvPr/>
        </p:nvSpPr>
        <p:spPr>
          <a:xfrm>
            <a:off x="4848149" y="3781044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800" dirty="0"/>
          </a:p>
        </p:txBody>
      </p:sp>
      <p:sp>
        <p:nvSpPr>
          <p:cNvPr id="70" name="Text 57"/>
          <p:cNvSpPr txBox="1"/>
          <p:nvPr/>
        </p:nvSpPr>
        <p:spPr>
          <a:xfrm>
            <a:off x="6001207" y="3562502"/>
            <a:ext cx="1610258" cy="66751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190500" tIns="152400" rIns="190500" bIns="152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Mostly Supported </a:t>
            </a:r>
            <a:endParaRPr lang="en-US" sz="1200" dirty="0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838444" y="3843223"/>
            <a:ext cx="105156" cy="105156"/>
          </a:xfrm>
          <a:prstGeom prst="rect">
            <a:avLst/>
          </a:prstGeom>
        </p:spPr>
      </p:pic>
      <p:pic>
        <p:nvPicPr>
          <p:cNvPr id="72" name="Image 12" descr="preencoded.png"/>
          <p:cNvPicPr>
            <a:picLocks noChangeAspect="1"/>
          </p:cNvPicPr>
          <p:nvPr/>
        </p:nvPicPr>
        <p:blipFill>
          <a:blip r:embed="rId13"/>
          <a:srcRect l="-13" r="-13"/>
          <a:stretch/>
        </p:blipFill>
        <p:spPr>
          <a:xfrm>
            <a:off x="7531913" y="3562502"/>
            <a:ext cx="4088282" cy="666598"/>
          </a:xfrm>
          <a:prstGeom prst="rect">
            <a:avLst/>
          </a:prstGeom>
        </p:spPr>
      </p:pic>
      <p:sp>
        <p:nvSpPr>
          <p:cNvPr id="73" name="Shape 58"/>
          <p:cNvSpPr/>
          <p:nvPr/>
        </p:nvSpPr>
        <p:spPr>
          <a:xfrm>
            <a:off x="7723022" y="3877056"/>
            <a:ext cx="38405" cy="38405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59"/>
          <p:cNvSpPr txBox="1"/>
          <p:nvPr/>
        </p:nvSpPr>
        <p:spPr>
          <a:xfrm>
            <a:off x="7818120" y="3810305"/>
            <a:ext cx="15307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AI/ML Forecasting layer</a:t>
            </a:r>
            <a:endParaRPr lang="en-US" sz="900" dirty="0"/>
          </a:p>
        </p:txBody>
      </p:sp>
      <p:pic>
        <p:nvPicPr>
          <p:cNvPr id="75" name="Image 1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304995"/>
            <a:ext cx="3314700" cy="685800"/>
          </a:xfrm>
          <a:prstGeom prst="rect">
            <a:avLst/>
          </a:prstGeom>
        </p:spPr>
      </p:pic>
      <p:sp>
        <p:nvSpPr>
          <p:cNvPr id="76" name="Shape 60"/>
          <p:cNvSpPr/>
          <p:nvPr/>
        </p:nvSpPr>
        <p:spPr>
          <a:xfrm>
            <a:off x="771754" y="4476902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7" name="Image 14" descr="preencoded.png"/>
          <p:cNvPicPr>
            <a:picLocks noChangeAspect="1"/>
          </p:cNvPicPr>
          <p:nvPr/>
        </p:nvPicPr>
        <p:blipFill>
          <a:blip r:embed="rId14"/>
          <a:srcRect l="-33" r="-33"/>
          <a:stretch/>
        </p:blipFill>
        <p:spPr>
          <a:xfrm>
            <a:off x="857707" y="4572000"/>
            <a:ext cx="171907" cy="152705"/>
          </a:xfrm>
          <a:prstGeom prst="rect">
            <a:avLst/>
          </a:prstGeom>
        </p:spPr>
      </p:pic>
      <p:sp>
        <p:nvSpPr>
          <p:cNvPr id="78" name="Text 61"/>
          <p:cNvSpPr txBox="1"/>
          <p:nvPr/>
        </p:nvSpPr>
        <p:spPr>
          <a:xfrm>
            <a:off x="1228954" y="4548226"/>
            <a:ext cx="20409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Correlation &amp; RCA</a:t>
            </a:r>
            <a:endParaRPr lang="en-US" sz="1000" dirty="0"/>
          </a:p>
        </p:txBody>
      </p:sp>
      <p:sp>
        <p:nvSpPr>
          <p:cNvPr id="79" name="Shape 62"/>
          <p:cNvSpPr/>
          <p:nvPr/>
        </p:nvSpPr>
        <p:spPr>
          <a:xfrm>
            <a:off x="3886200" y="4304995"/>
            <a:ext cx="1657807" cy="6858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63"/>
          <p:cNvSpPr/>
          <p:nvPr/>
        </p:nvSpPr>
        <p:spPr>
          <a:xfrm>
            <a:off x="4076395" y="453359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64"/>
          <p:cNvSpPr txBox="1"/>
          <p:nvPr/>
        </p:nvSpPr>
        <p:spPr>
          <a:xfrm>
            <a:off x="4048049" y="4533595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800" dirty="0"/>
          </a:p>
        </p:txBody>
      </p:sp>
      <p:sp>
        <p:nvSpPr>
          <p:cNvPr id="82" name="Shape 65"/>
          <p:cNvSpPr/>
          <p:nvPr/>
        </p:nvSpPr>
        <p:spPr>
          <a:xfrm>
            <a:off x="4343400" y="453359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66"/>
          <p:cNvSpPr txBox="1"/>
          <p:nvPr/>
        </p:nvSpPr>
        <p:spPr>
          <a:xfrm>
            <a:off x="4315054" y="4533595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800" dirty="0"/>
          </a:p>
        </p:txBody>
      </p:sp>
      <p:sp>
        <p:nvSpPr>
          <p:cNvPr id="84" name="Shape 67"/>
          <p:cNvSpPr/>
          <p:nvPr/>
        </p:nvSpPr>
        <p:spPr>
          <a:xfrm>
            <a:off x="4610405" y="453359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68"/>
          <p:cNvSpPr txBox="1"/>
          <p:nvPr/>
        </p:nvSpPr>
        <p:spPr>
          <a:xfrm>
            <a:off x="4581144" y="4533595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800" dirty="0"/>
          </a:p>
        </p:txBody>
      </p:sp>
      <p:sp>
        <p:nvSpPr>
          <p:cNvPr id="86" name="Shape 69"/>
          <p:cNvSpPr/>
          <p:nvPr/>
        </p:nvSpPr>
        <p:spPr>
          <a:xfrm>
            <a:off x="4876495" y="453359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70"/>
          <p:cNvSpPr txBox="1"/>
          <p:nvPr/>
        </p:nvSpPr>
        <p:spPr>
          <a:xfrm>
            <a:off x="4848149" y="4533595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800" dirty="0"/>
          </a:p>
        </p:txBody>
      </p:sp>
      <p:sp>
        <p:nvSpPr>
          <p:cNvPr id="88" name="Text 71"/>
          <p:cNvSpPr txBox="1"/>
          <p:nvPr/>
        </p:nvSpPr>
        <p:spPr>
          <a:xfrm>
            <a:off x="6001207" y="4304995"/>
            <a:ext cx="1610258" cy="6858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190500" tIns="152400" rIns="190500" bIns="152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Partial </a:t>
            </a:r>
            <a:endParaRPr lang="en-US" sz="1200" dirty="0"/>
          </a:p>
        </p:txBody>
      </p:sp>
      <p:pic>
        <p:nvPicPr>
          <p:cNvPr id="89" name="Image 1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38444" y="4595774"/>
            <a:ext cx="105156" cy="105156"/>
          </a:xfrm>
          <a:prstGeom prst="rect">
            <a:avLst/>
          </a:prstGeom>
        </p:spPr>
      </p:pic>
      <p:pic>
        <p:nvPicPr>
          <p:cNvPr id="90" name="Image 16" descr="preencoded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7531913" y="4304995"/>
            <a:ext cx="4088282" cy="685800"/>
          </a:xfrm>
          <a:prstGeom prst="rect">
            <a:avLst/>
          </a:prstGeom>
        </p:spPr>
      </p:pic>
      <p:sp>
        <p:nvSpPr>
          <p:cNvPr id="91" name="Shape 72"/>
          <p:cNvSpPr/>
          <p:nvPr/>
        </p:nvSpPr>
        <p:spPr>
          <a:xfrm>
            <a:off x="7723022" y="4533595"/>
            <a:ext cx="38405" cy="38405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73"/>
          <p:cNvSpPr txBox="1"/>
          <p:nvPr/>
        </p:nvSpPr>
        <p:spPr>
          <a:xfrm>
            <a:off x="7818120" y="4466844"/>
            <a:ext cx="212049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Cross-domain correlation engine</a:t>
            </a:r>
            <a:endParaRPr lang="en-US" sz="900" dirty="0"/>
          </a:p>
        </p:txBody>
      </p:sp>
      <p:sp>
        <p:nvSpPr>
          <p:cNvPr id="93" name="Shape 74"/>
          <p:cNvSpPr/>
          <p:nvPr/>
        </p:nvSpPr>
        <p:spPr>
          <a:xfrm>
            <a:off x="7723022" y="4724705"/>
            <a:ext cx="38405" cy="38405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75"/>
          <p:cNvSpPr txBox="1"/>
          <p:nvPr/>
        </p:nvSpPr>
        <p:spPr>
          <a:xfrm>
            <a:off x="7818120" y="4657954"/>
            <a:ext cx="149504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Graph-based RCA model</a:t>
            </a:r>
            <a:endParaRPr lang="en-US" sz="900" dirty="0"/>
          </a:p>
        </p:txBody>
      </p:sp>
      <p:pic>
        <p:nvPicPr>
          <p:cNvPr id="95" name="Image 1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5067605"/>
            <a:ext cx="3314700" cy="685800"/>
          </a:xfrm>
          <a:prstGeom prst="rect">
            <a:avLst/>
          </a:prstGeom>
        </p:spPr>
      </p:pic>
      <p:sp>
        <p:nvSpPr>
          <p:cNvPr id="96" name="Shape 76"/>
          <p:cNvSpPr/>
          <p:nvPr/>
        </p:nvSpPr>
        <p:spPr>
          <a:xfrm>
            <a:off x="771754" y="5238598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7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6851" y="5333695"/>
            <a:ext cx="152705" cy="152705"/>
          </a:xfrm>
          <a:prstGeom prst="rect">
            <a:avLst/>
          </a:prstGeom>
        </p:spPr>
      </p:pic>
      <p:sp>
        <p:nvSpPr>
          <p:cNvPr id="98" name="Text 77"/>
          <p:cNvSpPr txBox="1"/>
          <p:nvPr/>
        </p:nvSpPr>
        <p:spPr>
          <a:xfrm>
            <a:off x="1228954" y="5309921"/>
            <a:ext cx="23106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Knowledge Assistant</a:t>
            </a:r>
            <a:endParaRPr lang="en-US" sz="1000" dirty="0"/>
          </a:p>
        </p:txBody>
      </p:sp>
      <p:sp>
        <p:nvSpPr>
          <p:cNvPr id="99" name="Shape 78"/>
          <p:cNvSpPr/>
          <p:nvPr/>
        </p:nvSpPr>
        <p:spPr>
          <a:xfrm>
            <a:off x="3886200" y="5067605"/>
            <a:ext cx="1657807" cy="6858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79"/>
          <p:cNvSpPr/>
          <p:nvPr/>
        </p:nvSpPr>
        <p:spPr>
          <a:xfrm>
            <a:off x="4076395" y="529620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80"/>
          <p:cNvSpPr txBox="1"/>
          <p:nvPr/>
        </p:nvSpPr>
        <p:spPr>
          <a:xfrm>
            <a:off x="4048049" y="5296205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800" dirty="0"/>
          </a:p>
        </p:txBody>
      </p:sp>
      <p:sp>
        <p:nvSpPr>
          <p:cNvPr id="102" name="Shape 81"/>
          <p:cNvSpPr/>
          <p:nvPr/>
        </p:nvSpPr>
        <p:spPr>
          <a:xfrm>
            <a:off x="4343400" y="529620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82"/>
          <p:cNvSpPr txBox="1"/>
          <p:nvPr/>
        </p:nvSpPr>
        <p:spPr>
          <a:xfrm>
            <a:off x="4315054" y="5296205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800" dirty="0"/>
          </a:p>
        </p:txBody>
      </p:sp>
      <p:sp>
        <p:nvSpPr>
          <p:cNvPr id="104" name="Shape 83"/>
          <p:cNvSpPr/>
          <p:nvPr/>
        </p:nvSpPr>
        <p:spPr>
          <a:xfrm>
            <a:off x="4610405" y="529620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84"/>
          <p:cNvSpPr txBox="1"/>
          <p:nvPr/>
        </p:nvSpPr>
        <p:spPr>
          <a:xfrm>
            <a:off x="4581144" y="5296205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800" dirty="0"/>
          </a:p>
        </p:txBody>
      </p:sp>
      <p:sp>
        <p:nvSpPr>
          <p:cNvPr id="106" name="Shape 85"/>
          <p:cNvSpPr/>
          <p:nvPr/>
        </p:nvSpPr>
        <p:spPr>
          <a:xfrm>
            <a:off x="4876495" y="529620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86"/>
          <p:cNvSpPr txBox="1"/>
          <p:nvPr/>
        </p:nvSpPr>
        <p:spPr>
          <a:xfrm>
            <a:off x="4848149" y="5296205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800" dirty="0"/>
          </a:p>
        </p:txBody>
      </p:sp>
      <p:sp>
        <p:nvSpPr>
          <p:cNvPr id="108" name="Text 87"/>
          <p:cNvSpPr txBox="1"/>
          <p:nvPr/>
        </p:nvSpPr>
        <p:spPr>
          <a:xfrm>
            <a:off x="6001207" y="5067605"/>
            <a:ext cx="1610258" cy="6858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190500" tIns="152400" rIns="190500" bIns="152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Partial </a:t>
            </a:r>
            <a:endParaRPr lang="en-US" sz="1200" dirty="0"/>
          </a:p>
        </p:txBody>
      </p:sp>
      <p:pic>
        <p:nvPicPr>
          <p:cNvPr id="109" name="Image 1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38444" y="5357470"/>
            <a:ext cx="105156" cy="105156"/>
          </a:xfrm>
          <a:prstGeom prst="rect">
            <a:avLst/>
          </a:prstGeom>
        </p:spPr>
      </p:pic>
      <p:pic>
        <p:nvPicPr>
          <p:cNvPr id="110" name="Image 20" descr="preencoded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7531913" y="5067605"/>
            <a:ext cx="4088282" cy="685800"/>
          </a:xfrm>
          <a:prstGeom prst="rect">
            <a:avLst/>
          </a:prstGeom>
        </p:spPr>
      </p:pic>
      <p:sp>
        <p:nvSpPr>
          <p:cNvPr id="111" name="Shape 88"/>
          <p:cNvSpPr/>
          <p:nvPr/>
        </p:nvSpPr>
        <p:spPr>
          <a:xfrm>
            <a:off x="7723022" y="5296205"/>
            <a:ext cx="38405" cy="38405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89"/>
          <p:cNvSpPr txBox="1"/>
          <p:nvPr/>
        </p:nvSpPr>
        <p:spPr>
          <a:xfrm>
            <a:off x="7818120" y="5229454"/>
            <a:ext cx="224485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Integration &amp; Vector Database</a:t>
            </a:r>
            <a:endParaRPr lang="en-US" sz="900" dirty="0"/>
          </a:p>
        </p:txBody>
      </p:sp>
      <p:sp>
        <p:nvSpPr>
          <p:cNvPr id="113" name="Shape 90"/>
          <p:cNvSpPr/>
          <p:nvPr/>
        </p:nvSpPr>
        <p:spPr>
          <a:xfrm>
            <a:off x="7723022" y="5486400"/>
            <a:ext cx="38405" cy="38405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91"/>
          <p:cNvSpPr txBox="1"/>
          <p:nvPr/>
        </p:nvSpPr>
        <p:spPr>
          <a:xfrm>
            <a:off x="7818120" y="5419649"/>
            <a:ext cx="1791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knowledge indexing</a:t>
            </a:r>
            <a:endParaRPr lang="en-US" sz="900" dirty="0"/>
          </a:p>
        </p:txBody>
      </p:sp>
      <p:sp>
        <p:nvSpPr>
          <p:cNvPr id="115" name="Shape 92"/>
          <p:cNvSpPr/>
          <p:nvPr/>
        </p:nvSpPr>
        <p:spPr>
          <a:xfrm>
            <a:off x="571500" y="5829300"/>
            <a:ext cx="11048695" cy="685800"/>
          </a:xfrm>
          <a:prstGeom prst="rect">
            <a:avLst/>
          </a:prstGeom>
          <a:solidFill>
            <a:srgbClr val="EF444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6" name="Image 2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5829300"/>
            <a:ext cx="3314700" cy="685800"/>
          </a:xfrm>
          <a:prstGeom prst="rect">
            <a:avLst/>
          </a:prstGeom>
        </p:spPr>
      </p:pic>
      <p:sp>
        <p:nvSpPr>
          <p:cNvPr id="117" name="Shape 93"/>
          <p:cNvSpPr/>
          <p:nvPr/>
        </p:nvSpPr>
        <p:spPr>
          <a:xfrm>
            <a:off x="771754" y="6001207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8" name="Image 22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6851" y="6096305"/>
            <a:ext cx="152705" cy="152705"/>
          </a:xfrm>
          <a:prstGeom prst="rect">
            <a:avLst/>
          </a:prstGeom>
        </p:spPr>
      </p:pic>
      <p:sp>
        <p:nvSpPr>
          <p:cNvPr id="119" name="Text 94"/>
          <p:cNvSpPr txBox="1"/>
          <p:nvPr/>
        </p:nvSpPr>
        <p:spPr>
          <a:xfrm>
            <a:off x="1228954" y="6072530"/>
            <a:ext cx="164409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Blast Radius Analysis</a:t>
            </a:r>
            <a:endParaRPr lang="en-US" sz="1000" dirty="0"/>
          </a:p>
        </p:txBody>
      </p:sp>
      <p:sp>
        <p:nvSpPr>
          <p:cNvPr id="120" name="Shape 95"/>
          <p:cNvSpPr/>
          <p:nvPr/>
        </p:nvSpPr>
        <p:spPr>
          <a:xfrm>
            <a:off x="3886200" y="5829300"/>
            <a:ext cx="1657807" cy="6858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96"/>
          <p:cNvSpPr/>
          <p:nvPr/>
        </p:nvSpPr>
        <p:spPr>
          <a:xfrm>
            <a:off x="4076395" y="6057900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97"/>
          <p:cNvSpPr txBox="1"/>
          <p:nvPr/>
        </p:nvSpPr>
        <p:spPr>
          <a:xfrm>
            <a:off x="4048049" y="6057900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800" dirty="0"/>
          </a:p>
        </p:txBody>
      </p:sp>
      <p:sp>
        <p:nvSpPr>
          <p:cNvPr id="123" name="Shape 98"/>
          <p:cNvSpPr/>
          <p:nvPr/>
        </p:nvSpPr>
        <p:spPr>
          <a:xfrm>
            <a:off x="4343400" y="6057900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99"/>
          <p:cNvSpPr txBox="1"/>
          <p:nvPr/>
        </p:nvSpPr>
        <p:spPr>
          <a:xfrm>
            <a:off x="4315054" y="6057900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800" dirty="0"/>
          </a:p>
        </p:txBody>
      </p:sp>
      <p:sp>
        <p:nvSpPr>
          <p:cNvPr id="125" name="Shape 100"/>
          <p:cNvSpPr/>
          <p:nvPr/>
        </p:nvSpPr>
        <p:spPr>
          <a:xfrm>
            <a:off x="4610405" y="6057900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01"/>
          <p:cNvSpPr txBox="1"/>
          <p:nvPr/>
        </p:nvSpPr>
        <p:spPr>
          <a:xfrm>
            <a:off x="4581144" y="6057900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800" dirty="0"/>
          </a:p>
        </p:txBody>
      </p:sp>
      <p:sp>
        <p:nvSpPr>
          <p:cNvPr id="127" name="Shape 102"/>
          <p:cNvSpPr/>
          <p:nvPr/>
        </p:nvSpPr>
        <p:spPr>
          <a:xfrm>
            <a:off x="4876495" y="6057900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03"/>
          <p:cNvSpPr txBox="1"/>
          <p:nvPr/>
        </p:nvSpPr>
        <p:spPr>
          <a:xfrm>
            <a:off x="4848149" y="6057900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800" dirty="0"/>
          </a:p>
        </p:txBody>
      </p:sp>
      <p:sp>
        <p:nvSpPr>
          <p:cNvPr id="129" name="Text 104"/>
          <p:cNvSpPr txBox="1"/>
          <p:nvPr/>
        </p:nvSpPr>
        <p:spPr>
          <a:xfrm>
            <a:off x="6010351" y="5829300"/>
            <a:ext cx="1601114" cy="6858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190500" tIns="152400" rIns="190500" bIns="152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New Capability </a:t>
            </a:r>
            <a:endParaRPr lang="en-US" sz="1200" dirty="0"/>
          </a:p>
        </p:txBody>
      </p:sp>
      <p:pic>
        <p:nvPicPr>
          <p:cNvPr id="130" name="Image 23" descr="preencoded.png"/>
          <p:cNvPicPr>
            <a:picLocks noChangeAspect="1"/>
          </p:cNvPicPr>
          <p:nvPr/>
        </p:nvPicPr>
        <p:blipFill>
          <a:blip r:embed="rId17"/>
          <a:srcRect t="-1750" b="-1750"/>
          <a:stretch/>
        </p:blipFill>
        <p:spPr>
          <a:xfrm>
            <a:off x="5838444" y="6120079"/>
            <a:ext cx="114300" cy="105156"/>
          </a:xfrm>
          <a:prstGeom prst="rect">
            <a:avLst/>
          </a:prstGeom>
        </p:spPr>
      </p:pic>
      <p:pic>
        <p:nvPicPr>
          <p:cNvPr id="131" name="Image 24" descr="preencoded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7531913" y="5829300"/>
            <a:ext cx="4088282" cy="685800"/>
          </a:xfrm>
          <a:prstGeom prst="rect">
            <a:avLst/>
          </a:prstGeom>
        </p:spPr>
      </p:pic>
      <p:sp>
        <p:nvSpPr>
          <p:cNvPr id="132" name="Shape 105"/>
          <p:cNvSpPr/>
          <p:nvPr/>
        </p:nvSpPr>
        <p:spPr>
          <a:xfrm>
            <a:off x="7723022" y="6057900"/>
            <a:ext cx="38405" cy="38405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06"/>
          <p:cNvSpPr txBox="1"/>
          <p:nvPr/>
        </p:nvSpPr>
        <p:spPr>
          <a:xfrm>
            <a:off x="7818120" y="5991149"/>
            <a:ext cx="24871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Topology graph &amp; dependency mapping</a:t>
            </a:r>
            <a:endParaRPr lang="en-US" sz="900" dirty="0"/>
          </a:p>
        </p:txBody>
      </p:sp>
      <p:sp>
        <p:nvSpPr>
          <p:cNvPr id="134" name="Shape 107"/>
          <p:cNvSpPr/>
          <p:nvPr/>
        </p:nvSpPr>
        <p:spPr>
          <a:xfrm>
            <a:off x="7723022" y="6248095"/>
            <a:ext cx="38405" cy="38405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08"/>
          <p:cNvSpPr txBox="1"/>
          <p:nvPr/>
        </p:nvSpPr>
        <p:spPr>
          <a:xfrm>
            <a:off x="7818120" y="6181344"/>
            <a:ext cx="206380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engine &amp; risk scoring</a:t>
            </a:r>
            <a:endParaRPr lang="en-US" sz="900" dirty="0"/>
          </a:p>
        </p:txBody>
      </p:sp>
      <p:sp>
        <p:nvSpPr>
          <p:cNvPr id="136" name="Shape 109"/>
          <p:cNvSpPr/>
          <p:nvPr/>
        </p:nvSpPr>
        <p:spPr>
          <a:xfrm>
            <a:off x="571500" y="6590995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10"/>
          <p:cNvSpPr/>
          <p:nvPr/>
        </p:nvSpPr>
        <p:spPr>
          <a:xfrm>
            <a:off x="588874" y="6694780"/>
            <a:ext cx="75895" cy="7589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11"/>
          <p:cNvSpPr txBox="1"/>
          <p:nvPr/>
        </p:nvSpPr>
        <p:spPr>
          <a:xfrm>
            <a:off x="741579" y="6647231"/>
            <a:ext cx="2448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AMDL: Add / Modify / Delete / Lookup</a:t>
            </a:r>
            <a:endParaRPr lang="en-US" sz="900" dirty="0"/>
          </a:p>
        </p:txBody>
      </p:sp>
      <p:sp>
        <p:nvSpPr>
          <p:cNvPr id="139" name="Shape 112"/>
          <p:cNvSpPr/>
          <p:nvPr/>
        </p:nvSpPr>
        <p:spPr>
          <a:xfrm>
            <a:off x="2985516" y="6694780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13"/>
          <p:cNvSpPr txBox="1"/>
          <p:nvPr/>
        </p:nvSpPr>
        <p:spPr>
          <a:xfrm>
            <a:off x="3138221" y="6647231"/>
            <a:ext cx="14630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Effort / Supported</a:t>
            </a:r>
            <a:endParaRPr lang="en-US" sz="900" dirty="0"/>
          </a:p>
        </p:txBody>
      </p:sp>
      <p:sp>
        <p:nvSpPr>
          <p:cNvPr id="141" name="Shape 114"/>
          <p:cNvSpPr/>
          <p:nvPr/>
        </p:nvSpPr>
        <p:spPr>
          <a:xfrm>
            <a:off x="4554627" y="6694780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15"/>
          <p:cNvSpPr txBox="1"/>
          <p:nvPr/>
        </p:nvSpPr>
        <p:spPr>
          <a:xfrm>
            <a:off x="4706417" y="6647231"/>
            <a:ext cx="14401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Effort / Partial</a:t>
            </a:r>
            <a:endParaRPr lang="en-US" sz="900" dirty="0"/>
          </a:p>
        </p:txBody>
      </p:sp>
      <p:sp>
        <p:nvSpPr>
          <p:cNvPr id="143" name="Shape 116"/>
          <p:cNvSpPr/>
          <p:nvPr/>
        </p:nvSpPr>
        <p:spPr>
          <a:xfrm>
            <a:off x="6105449" y="6694780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17"/>
          <p:cNvSpPr txBox="1"/>
          <p:nvPr/>
        </p:nvSpPr>
        <p:spPr>
          <a:xfrm>
            <a:off x="6258154" y="6647231"/>
            <a:ext cx="1791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Effort / New Capability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5" y="114391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Detail Use Case 01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895198"/>
            <a:ext cx="27742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Blast Radius Analysis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462565" y="923544"/>
            <a:ext cx="11676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Priority: Critical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4371" y="4728219"/>
            <a:ext cx="3866998" cy="1162202"/>
          </a:xfrm>
          <a:prstGeom prst="roundRect">
            <a:avLst>
              <a:gd name="adj" fmla="val 1547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04371" y="4728219"/>
            <a:ext cx="38405" cy="1162202"/>
          </a:xfrm>
          <a:prstGeom prst="roundRect">
            <a:avLst>
              <a:gd name="adj" fmla="val 468382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2971" y="4918414"/>
            <a:ext cx="3562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Importance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732971" y="5132384"/>
            <a:ext cx="35250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"This is the most critical missing capability to enable safe, autonomous operations. Without understanding impact, we cannot automate change."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00476" y="1227896"/>
            <a:ext cx="6667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AMDL Lifecycle Mapping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2673" y="1227896"/>
            <a:ext cx="466984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4752673" y="1260814"/>
            <a:ext cx="152705" cy="1335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752673" y="1579940"/>
            <a:ext cx="3323844" cy="609905"/>
          </a:xfrm>
          <a:prstGeom prst="roundRect">
            <a:avLst>
              <a:gd name="adj" fmla="val 3748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914522" y="173264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886176" y="1732645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333317" y="1703384"/>
            <a:ext cx="1772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5333317" y="1908210"/>
            <a:ext cx="20180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 new service provisioning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8229222" y="1579940"/>
            <a:ext cx="3323844" cy="609905"/>
          </a:xfrm>
          <a:prstGeom prst="roundRect">
            <a:avLst>
              <a:gd name="adj" fmla="val 3748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391071" y="173264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8362725" y="1732645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8809866" y="1703384"/>
            <a:ext cx="2100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809866" y="1908210"/>
            <a:ext cx="24030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config changes &amp; dependencies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752673" y="2341635"/>
            <a:ext cx="3323844" cy="609905"/>
          </a:xfrm>
          <a:prstGeom prst="roundRect">
            <a:avLst>
              <a:gd name="adj" fmla="val 3748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4914522" y="2494340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4886176" y="249434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5333317" y="2465994"/>
            <a:ext cx="1895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5333317" y="2670819"/>
            <a:ext cx="216529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removal impact on services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8229222" y="2341635"/>
            <a:ext cx="3323844" cy="609905"/>
          </a:xfrm>
          <a:prstGeom prst="roundRect">
            <a:avLst>
              <a:gd name="adj" fmla="val 3748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8391071" y="2494340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8362725" y="249434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809866" y="2465994"/>
            <a:ext cx="20116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LOOKUP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809866" y="2670819"/>
            <a:ext cx="23015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topology &amp; dependency graph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5019678" y="3237747"/>
            <a:ext cx="66486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Required Components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752673" y="3237747"/>
            <a:ext cx="47914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4752673" y="3270666"/>
            <a:ext cx="171907" cy="133502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4752673" y="3589791"/>
            <a:ext cx="3323844" cy="886054"/>
          </a:xfrm>
          <a:prstGeom prst="roundRect">
            <a:avLst>
              <a:gd name="adj" fmla="val 17755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4914522" y="3770842"/>
            <a:ext cx="171907" cy="152705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5199815" y="3751640"/>
            <a:ext cx="2823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Topology Graph Model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5199815" y="3989384"/>
            <a:ext cx="27916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graph of all network devices and links.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8229222" y="3589791"/>
            <a:ext cx="3323844" cy="886054"/>
          </a:xfrm>
          <a:prstGeom prst="roundRect">
            <a:avLst>
              <a:gd name="adj" fmla="val 17755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8391071" y="3770842"/>
            <a:ext cx="190195" cy="152705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8695566" y="3751640"/>
            <a:ext cx="23874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Mapping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8695566" y="3989384"/>
            <a:ext cx="27322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Linking services to physical infrastructure.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4752673" y="4623978"/>
            <a:ext cx="3323844" cy="724205"/>
          </a:xfrm>
          <a:prstGeom prst="roundRect">
            <a:avLst>
              <a:gd name="adj" fmla="val 2658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4914522" y="4805029"/>
            <a:ext cx="133502" cy="152705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5162325" y="4785826"/>
            <a:ext cx="263530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Engine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5162325" y="5024485"/>
            <a:ext cx="301569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Pre-execution environment to test config logic.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8229222" y="4623978"/>
            <a:ext cx="3323844" cy="724205"/>
          </a:xfrm>
          <a:prstGeom prst="roundRect">
            <a:avLst>
              <a:gd name="adj" fmla="val 2658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91071" y="4805029"/>
            <a:ext cx="152705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8658076" y="4785826"/>
            <a:ext cx="27047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Scoring</a:t>
            </a:r>
            <a:endParaRPr lang="en-US" sz="1000" dirty="0"/>
          </a:p>
        </p:txBody>
      </p:sp>
      <p:sp>
        <p:nvSpPr>
          <p:cNvPr id="54" name="Text 45"/>
          <p:cNvSpPr txBox="1"/>
          <p:nvPr/>
        </p:nvSpPr>
        <p:spPr>
          <a:xfrm>
            <a:off x="8658076" y="5024485"/>
            <a:ext cx="309524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Calculated risk metric for every change request.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4990417" y="5631646"/>
            <a:ext cx="6677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Business Value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4752673" y="5631646"/>
            <a:ext cx="5329123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10"/>
          <a:srcRect l="-3425" r="-3425"/>
          <a:stretch/>
        </p:blipFill>
        <p:spPr>
          <a:xfrm>
            <a:off x="4752673" y="5665479"/>
            <a:ext cx="142646" cy="133502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4752673" y="5984605"/>
            <a:ext cx="2171700" cy="809244"/>
          </a:xfrm>
          <a:prstGeom prst="roundRect">
            <a:avLst>
              <a:gd name="adj" fmla="val 2127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49"/>
          <p:cNvSpPr txBox="1"/>
          <p:nvPr/>
        </p:nvSpPr>
        <p:spPr>
          <a:xfrm>
            <a:off x="4876117" y="6446377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Safer Change Management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7070677" y="5984605"/>
            <a:ext cx="2171700" cy="809244"/>
          </a:xfrm>
          <a:prstGeom prst="roundRect">
            <a:avLst>
              <a:gd name="adj" fmla="val 2127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1"/>
          <p:cNvSpPr txBox="1"/>
          <p:nvPr/>
        </p:nvSpPr>
        <p:spPr>
          <a:xfrm>
            <a:off x="7194121" y="6446377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Incidents</a:t>
            </a:r>
            <a:endParaRPr lang="en-US" sz="900" dirty="0"/>
          </a:p>
        </p:txBody>
      </p:sp>
      <p:sp>
        <p:nvSpPr>
          <p:cNvPr id="62" name="Shape 52"/>
          <p:cNvSpPr/>
          <p:nvPr/>
        </p:nvSpPr>
        <p:spPr>
          <a:xfrm>
            <a:off x="9387767" y="5984605"/>
            <a:ext cx="2171700" cy="809244"/>
          </a:xfrm>
          <a:prstGeom prst="roundRect">
            <a:avLst>
              <a:gd name="adj" fmla="val 2127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3"/>
          <p:cNvSpPr txBox="1"/>
          <p:nvPr/>
        </p:nvSpPr>
        <p:spPr>
          <a:xfrm>
            <a:off x="9512125" y="6446377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Approvals</a:t>
            </a:r>
            <a:endParaRPr lang="en-US" sz="900" dirty="0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11"/>
          <a:srcRect l="-1648" r="-1648"/>
          <a:stretch/>
        </p:blipFill>
        <p:spPr>
          <a:xfrm>
            <a:off x="5749369" y="6146454"/>
            <a:ext cx="171907" cy="190195"/>
          </a:xfrm>
          <a:prstGeom prst="rect">
            <a:avLst/>
          </a:prstGeom>
        </p:spPr>
      </p:pic>
      <p:pic>
        <p:nvPicPr>
          <p:cNvPr id="6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057315" y="6146454"/>
            <a:ext cx="190195" cy="190195"/>
          </a:xfrm>
          <a:prstGeom prst="rect">
            <a:avLst/>
          </a:prstGeom>
        </p:spPr>
      </p:pic>
      <p:pic>
        <p:nvPicPr>
          <p:cNvPr id="66" name="Image 10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10384463" y="6146454"/>
            <a:ext cx="171907" cy="190195"/>
          </a:xfrm>
          <a:prstGeom prst="rect">
            <a:avLst/>
          </a:prstGeom>
        </p:spPr>
      </p:pic>
      <p:sp>
        <p:nvSpPr>
          <p:cNvPr id="67" name="Shape 54"/>
          <p:cNvSpPr/>
          <p:nvPr/>
        </p:nvSpPr>
        <p:spPr>
          <a:xfrm>
            <a:off x="504371" y="1227896"/>
            <a:ext cx="3866998" cy="3219602"/>
          </a:xfrm>
          <a:prstGeom prst="roundRect">
            <a:avLst>
              <a:gd name="adj" fmla="val 268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55"/>
          <p:cNvSpPr/>
          <p:nvPr/>
        </p:nvSpPr>
        <p:spPr>
          <a:xfrm>
            <a:off x="504371" y="1227896"/>
            <a:ext cx="38405" cy="3195828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56"/>
          <p:cNvSpPr/>
          <p:nvPr/>
        </p:nvSpPr>
        <p:spPr>
          <a:xfrm>
            <a:off x="799722" y="1523247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52427" y="1675038"/>
            <a:ext cx="304495" cy="304495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799722" y="2360838"/>
            <a:ext cx="358719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Blast Radius Analysis</a:t>
            </a:r>
            <a:endParaRPr lang="en-US" sz="2100" dirty="0"/>
          </a:p>
        </p:txBody>
      </p:sp>
      <p:sp>
        <p:nvSpPr>
          <p:cNvPr id="72" name="Text 58"/>
          <p:cNvSpPr txBox="1"/>
          <p:nvPr/>
        </p:nvSpPr>
        <p:spPr>
          <a:xfrm>
            <a:off x="799722" y="2875645"/>
            <a:ext cx="3353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engineers with predictive visibility into the potential impact of network changes before deployment.</a:t>
            </a:r>
            <a:endParaRPr lang="en-US" sz="1100" dirty="0"/>
          </a:p>
        </p:txBody>
      </p:sp>
      <p:sp>
        <p:nvSpPr>
          <p:cNvPr id="73" name="Shape 59"/>
          <p:cNvSpPr/>
          <p:nvPr/>
        </p:nvSpPr>
        <p:spPr>
          <a:xfrm>
            <a:off x="799722" y="3790045"/>
            <a:ext cx="1600200" cy="362102"/>
          </a:xfrm>
          <a:prstGeom prst="roundRect">
            <a:avLst>
              <a:gd name="adj" fmla="val 252526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0"/>
          <p:cNvSpPr/>
          <p:nvPr/>
        </p:nvSpPr>
        <p:spPr>
          <a:xfrm>
            <a:off x="1181027" y="3790045"/>
            <a:ext cx="1282903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New Capability </a:t>
            </a:r>
            <a:endParaRPr lang="en-US" sz="900" dirty="0"/>
          </a:p>
        </p:txBody>
      </p:sp>
      <p:pic>
        <p:nvPicPr>
          <p:cNvPr id="75" name="Image 12" descr="preencoded.png"/>
          <p:cNvPicPr>
            <a:picLocks noChangeAspect="1"/>
          </p:cNvPicPr>
          <p:nvPr/>
        </p:nvPicPr>
        <p:blipFill>
          <a:blip r:embed="rId15"/>
          <a:srcRect l="-1358" r="-1358"/>
          <a:stretch/>
        </p:blipFill>
        <p:spPr>
          <a:xfrm>
            <a:off x="961571" y="3906174"/>
            <a:ext cx="142646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5" y="111369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Detail Use Case 02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10210" y="858039"/>
            <a:ext cx="2823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Operations Agent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611917" y="875951"/>
            <a:ext cx="986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Priority: High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1805" y="5072177"/>
            <a:ext cx="3866998" cy="972007"/>
          </a:xfrm>
          <a:prstGeom prst="roundRect">
            <a:avLst>
              <a:gd name="adj" fmla="val 2213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805" y="5072177"/>
            <a:ext cx="38405" cy="972007"/>
          </a:xfrm>
          <a:prstGeom prst="roundRect">
            <a:avLst>
              <a:gd name="adj" fmla="val 56022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00405" y="5262372"/>
            <a:ext cx="3562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Gap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800405" y="5476342"/>
            <a:ext cx="35250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unified AI + Telemetry integration platform to bridge raw data with actionable intelligence.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67910" y="1343254"/>
            <a:ext cx="6667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AMDL Lifecycle Mapping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20107" y="1343254"/>
            <a:ext cx="466984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4820107" y="1376172"/>
            <a:ext cx="152705" cy="1335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277454" y="1695298"/>
            <a:ext cx="3343046" cy="562356"/>
          </a:xfrm>
          <a:prstGeom prst="roundRect">
            <a:avLst>
              <a:gd name="adj" fmla="val 44095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420100" y="1840688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8391754" y="1840688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8801405" y="1800454"/>
            <a:ext cx="1848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8801405" y="1990649"/>
            <a:ext cx="2019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config/tuning changes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8277454" y="2366468"/>
            <a:ext cx="3343046" cy="562356"/>
          </a:xfrm>
          <a:prstGeom prst="roundRect">
            <a:avLst>
              <a:gd name="adj" fmla="val 44095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420100" y="2511857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8391754" y="2511857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801405" y="2471624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LOOKUP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801405" y="2661819"/>
            <a:ext cx="206380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telemetry, topology &amp; logs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5039563" y="3161996"/>
            <a:ext cx="66961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Data Sources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820107" y="3161996"/>
            <a:ext cx="5474513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 l="-2838" r="-2838"/>
          <a:stretch/>
        </p:blipFill>
        <p:spPr>
          <a:xfrm>
            <a:off x="4820107" y="3195828"/>
            <a:ext cx="123444" cy="13350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820107" y="3514954"/>
            <a:ext cx="2210105" cy="295351"/>
          </a:xfrm>
          <a:prstGeom prst="roundRect">
            <a:avLst>
              <a:gd name="adj" fmla="val 1198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5077054" y="3514954"/>
            <a:ext cx="20290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Streaming Telemetry</a:t>
            </a:r>
            <a:endParaRPr lang="en-US" sz="8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24349" y="3611880"/>
            <a:ext cx="95098" cy="9509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7118909" y="3514954"/>
            <a:ext cx="2210105" cy="295351"/>
          </a:xfrm>
          <a:prstGeom prst="roundRect">
            <a:avLst>
              <a:gd name="adj" fmla="val 1198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7375855" y="3514954"/>
            <a:ext cx="20290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SNMP / Syslogs</a:t>
            </a:r>
            <a:endParaRPr lang="en-US" sz="8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23151" y="3611880"/>
            <a:ext cx="95098" cy="9509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9417711" y="3514954"/>
            <a:ext cx="2210105" cy="295351"/>
          </a:xfrm>
          <a:prstGeom prst="roundRect">
            <a:avLst>
              <a:gd name="adj" fmla="val 1198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 txBox="1"/>
          <p:nvPr/>
        </p:nvSpPr>
        <p:spPr>
          <a:xfrm>
            <a:off x="9674657" y="3514954"/>
            <a:ext cx="20290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Routing State</a:t>
            </a:r>
            <a:endParaRPr lang="en-US" sz="8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1952" y="3611880"/>
            <a:ext cx="95098" cy="95098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4820107" y="3899916"/>
            <a:ext cx="2210105" cy="295351"/>
          </a:xfrm>
          <a:prstGeom prst="roundRect">
            <a:avLst>
              <a:gd name="adj" fmla="val 1198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 txBox="1"/>
          <p:nvPr/>
        </p:nvSpPr>
        <p:spPr>
          <a:xfrm>
            <a:off x="5057851" y="3899916"/>
            <a:ext cx="20482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Device Configs</a:t>
            </a:r>
            <a:endParaRPr lang="en-US" sz="8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 l="-3205" r="-3205"/>
          <a:stretch/>
        </p:blipFill>
        <p:spPr>
          <a:xfrm>
            <a:off x="4924349" y="3997757"/>
            <a:ext cx="75895" cy="95098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7118909" y="3899916"/>
            <a:ext cx="2210105" cy="295351"/>
          </a:xfrm>
          <a:prstGeom prst="roundRect">
            <a:avLst>
              <a:gd name="adj" fmla="val 1198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3"/>
          <p:cNvSpPr txBox="1"/>
          <p:nvPr/>
        </p:nvSpPr>
        <p:spPr>
          <a:xfrm>
            <a:off x="7385914" y="3899916"/>
            <a:ext cx="201899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Topology Graph</a:t>
            </a:r>
            <a:endParaRPr lang="en-US" sz="800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rcRect t="-870" b="-870"/>
          <a:stretch/>
        </p:blipFill>
        <p:spPr>
          <a:xfrm>
            <a:off x="7223151" y="3997757"/>
            <a:ext cx="105156" cy="9509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9417711" y="3899916"/>
            <a:ext cx="2210105" cy="295351"/>
          </a:xfrm>
          <a:prstGeom prst="roundRect">
            <a:avLst>
              <a:gd name="adj" fmla="val 1198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5"/>
          <p:cNvSpPr txBox="1"/>
          <p:nvPr/>
        </p:nvSpPr>
        <p:spPr>
          <a:xfrm>
            <a:off x="9674657" y="3899916"/>
            <a:ext cx="20290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Service Mapping</a:t>
            </a:r>
            <a:endParaRPr lang="en-US" sz="8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521952" y="3997757"/>
            <a:ext cx="95098" cy="95098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5057851" y="4429354"/>
            <a:ext cx="6677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Implementation Flow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4820107" y="4429354"/>
            <a:ext cx="487375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rcRect l="-3425" r="-3425"/>
          <a:stretch/>
        </p:blipFill>
        <p:spPr>
          <a:xfrm>
            <a:off x="4820107" y="4462272"/>
            <a:ext cx="142646" cy="133502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4820107" y="4781398"/>
            <a:ext cx="6801307" cy="838505"/>
          </a:xfrm>
          <a:prstGeom prst="roundRect">
            <a:avLst>
              <a:gd name="adj" fmla="val 29741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9"/>
          <p:cNvSpPr txBox="1"/>
          <p:nvPr/>
        </p:nvSpPr>
        <p:spPr>
          <a:xfrm>
            <a:off x="5057851" y="5850332"/>
            <a:ext cx="6677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Operational Value</a:t>
            </a:r>
            <a:endParaRPr lang="en-US" sz="1000" dirty="0"/>
          </a:p>
        </p:txBody>
      </p:sp>
      <p:sp>
        <p:nvSpPr>
          <p:cNvPr id="52" name="Shape 40"/>
          <p:cNvSpPr/>
          <p:nvPr/>
        </p:nvSpPr>
        <p:spPr>
          <a:xfrm>
            <a:off x="4820107" y="5850332"/>
            <a:ext cx="508223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3"/>
          <a:srcRect l="-3425" r="-3425"/>
          <a:stretch/>
        </p:blipFill>
        <p:spPr>
          <a:xfrm>
            <a:off x="4820107" y="5883250"/>
            <a:ext cx="142646" cy="133502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4820107" y="6202376"/>
            <a:ext cx="2171700" cy="685800"/>
          </a:xfrm>
          <a:prstGeom prst="roundRect">
            <a:avLst>
              <a:gd name="adj" fmla="val 2963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2"/>
          <p:cNvSpPr txBox="1"/>
          <p:nvPr/>
        </p:nvSpPr>
        <p:spPr>
          <a:xfrm>
            <a:off x="4905147" y="6590996"/>
            <a:ext cx="20016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Earlier Detection</a:t>
            </a:r>
            <a:endParaRPr lang="en-US" sz="900" dirty="0"/>
          </a:p>
        </p:txBody>
      </p:sp>
      <p:sp>
        <p:nvSpPr>
          <p:cNvPr id="56" name="Shape 43"/>
          <p:cNvSpPr/>
          <p:nvPr/>
        </p:nvSpPr>
        <p:spPr>
          <a:xfrm>
            <a:off x="7138111" y="6202376"/>
            <a:ext cx="2171700" cy="685800"/>
          </a:xfrm>
          <a:prstGeom prst="roundRect">
            <a:avLst>
              <a:gd name="adj" fmla="val 2963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4"/>
          <p:cNvSpPr txBox="1"/>
          <p:nvPr/>
        </p:nvSpPr>
        <p:spPr>
          <a:xfrm>
            <a:off x="7223151" y="6590996"/>
            <a:ext cx="20016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Ops</a:t>
            </a:r>
            <a:endParaRPr lang="en-US" sz="900" dirty="0"/>
          </a:p>
        </p:txBody>
      </p:sp>
      <p:sp>
        <p:nvSpPr>
          <p:cNvPr id="58" name="Shape 45"/>
          <p:cNvSpPr/>
          <p:nvPr/>
        </p:nvSpPr>
        <p:spPr>
          <a:xfrm>
            <a:off x="9455201" y="6202376"/>
            <a:ext cx="2171700" cy="685800"/>
          </a:xfrm>
          <a:prstGeom prst="roundRect">
            <a:avLst>
              <a:gd name="adj" fmla="val 2963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46"/>
          <p:cNvSpPr txBox="1"/>
          <p:nvPr/>
        </p:nvSpPr>
        <p:spPr>
          <a:xfrm>
            <a:off x="9541155" y="6590996"/>
            <a:ext cx="20016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Tickets</a:t>
            </a:r>
            <a:endParaRPr lang="en-US" sz="900" dirty="0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816803" y="6326734"/>
            <a:ext cx="171907" cy="171907"/>
          </a:xfrm>
          <a:prstGeom prst="rect">
            <a:avLst/>
          </a:prstGeom>
        </p:spPr>
      </p:pic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15"/>
          <a:srcRect l="-1064" r="-1064"/>
          <a:stretch/>
        </p:blipFill>
        <p:spPr>
          <a:xfrm>
            <a:off x="8111033" y="6326734"/>
            <a:ext cx="219456" cy="171907"/>
          </a:xfrm>
          <a:prstGeom prst="rect">
            <a:avLst/>
          </a:prstGeom>
        </p:spPr>
      </p:pic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16"/>
          <a:srcRect t="-842" b="-842"/>
          <a:stretch/>
        </p:blipFill>
        <p:spPr>
          <a:xfrm>
            <a:off x="10442753" y="6326734"/>
            <a:ext cx="190195" cy="171907"/>
          </a:xfrm>
          <a:prstGeom prst="rect">
            <a:avLst/>
          </a:prstGeom>
        </p:spPr>
      </p:pic>
      <p:sp>
        <p:nvSpPr>
          <p:cNvPr id="63" name="Shape 47"/>
          <p:cNvSpPr/>
          <p:nvPr/>
        </p:nvSpPr>
        <p:spPr>
          <a:xfrm>
            <a:off x="571805" y="1343254"/>
            <a:ext cx="3866998" cy="3448202"/>
          </a:xfrm>
          <a:prstGeom prst="roundRect">
            <a:avLst>
              <a:gd name="adj" fmla="val 23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48"/>
          <p:cNvSpPr/>
          <p:nvPr/>
        </p:nvSpPr>
        <p:spPr>
          <a:xfrm>
            <a:off x="571805" y="1343254"/>
            <a:ext cx="38405" cy="3424428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49"/>
          <p:cNvSpPr/>
          <p:nvPr/>
        </p:nvSpPr>
        <p:spPr>
          <a:xfrm>
            <a:off x="867156" y="1638605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14" descr="preencoded.png"/>
          <p:cNvPicPr>
            <a:picLocks noChangeAspect="1"/>
          </p:cNvPicPr>
          <p:nvPr/>
        </p:nvPicPr>
        <p:blipFill>
          <a:blip r:embed="rId17"/>
          <a:srcRect l="-90" r="-90"/>
          <a:stretch/>
        </p:blipFill>
        <p:spPr>
          <a:xfrm>
            <a:off x="981456" y="1790396"/>
            <a:ext cx="381305" cy="304495"/>
          </a:xfrm>
          <a:prstGeom prst="rect">
            <a:avLst/>
          </a:prstGeom>
        </p:spPr>
      </p:pic>
      <p:sp>
        <p:nvSpPr>
          <p:cNvPr id="67" name="Text 50"/>
          <p:cNvSpPr txBox="1"/>
          <p:nvPr/>
        </p:nvSpPr>
        <p:spPr>
          <a:xfrm>
            <a:off x="867156" y="2476196"/>
            <a:ext cx="33915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Autonomous Agent</a:t>
            </a:r>
            <a:endParaRPr lang="en-US" sz="2100" dirty="0"/>
          </a:p>
        </p:txBody>
      </p:sp>
      <p:sp>
        <p:nvSpPr>
          <p:cNvPr id="68" name="Text 51"/>
          <p:cNvSpPr txBox="1"/>
          <p:nvPr/>
        </p:nvSpPr>
        <p:spPr>
          <a:xfrm>
            <a:off x="867156" y="2991003"/>
            <a:ext cx="33531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intelligent operational assistant that proactively detects network anomalies, correlates events, and recommends remediation actions before service impact.</a:t>
            </a:r>
            <a:endParaRPr lang="en-US" sz="1100" dirty="0"/>
          </a:p>
        </p:txBody>
      </p:sp>
      <p:sp>
        <p:nvSpPr>
          <p:cNvPr id="69" name="Shape 52"/>
          <p:cNvSpPr/>
          <p:nvPr/>
        </p:nvSpPr>
        <p:spPr>
          <a:xfrm>
            <a:off x="867156" y="4134003"/>
            <a:ext cx="1666951" cy="362102"/>
          </a:xfrm>
          <a:prstGeom prst="roundRect">
            <a:avLst>
              <a:gd name="adj" fmla="val 252526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53"/>
          <p:cNvSpPr/>
          <p:nvPr/>
        </p:nvSpPr>
        <p:spPr>
          <a:xfrm>
            <a:off x="1229259" y="4134003"/>
            <a:ext cx="13716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Partial Support </a:t>
            </a:r>
            <a:endParaRPr lang="en-US" sz="900" dirty="0"/>
          </a:p>
        </p:txBody>
      </p:sp>
      <p:pic>
        <p:nvPicPr>
          <p:cNvPr id="71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29005" y="4250132"/>
            <a:ext cx="123444" cy="123444"/>
          </a:xfrm>
          <a:prstGeom prst="rect">
            <a:avLst/>
          </a:prstGeom>
        </p:spPr>
      </p:pic>
      <p:sp>
        <p:nvSpPr>
          <p:cNvPr id="72" name="Shape 54"/>
          <p:cNvSpPr/>
          <p:nvPr/>
        </p:nvSpPr>
        <p:spPr>
          <a:xfrm>
            <a:off x="4820107" y="1695298"/>
            <a:ext cx="3343046" cy="562356"/>
          </a:xfrm>
          <a:prstGeom prst="roundRect">
            <a:avLst>
              <a:gd name="adj" fmla="val 44095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55"/>
          <p:cNvSpPr/>
          <p:nvPr/>
        </p:nvSpPr>
        <p:spPr>
          <a:xfrm>
            <a:off x="4962754" y="1840688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56"/>
          <p:cNvSpPr txBox="1"/>
          <p:nvPr/>
        </p:nvSpPr>
        <p:spPr>
          <a:xfrm>
            <a:off x="4934407" y="1840688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  <p:sp>
        <p:nvSpPr>
          <p:cNvPr id="75" name="Text 57"/>
          <p:cNvSpPr txBox="1"/>
          <p:nvPr/>
        </p:nvSpPr>
        <p:spPr>
          <a:xfrm>
            <a:off x="5344059" y="1800454"/>
            <a:ext cx="9912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</a:t>
            </a:r>
            <a:endParaRPr lang="en-US" sz="900" dirty="0"/>
          </a:p>
        </p:txBody>
      </p:sp>
      <p:sp>
        <p:nvSpPr>
          <p:cNvPr id="76" name="Text 58"/>
          <p:cNvSpPr txBox="1"/>
          <p:nvPr/>
        </p:nvSpPr>
        <p:spPr>
          <a:xfrm>
            <a:off x="5344059" y="1990649"/>
            <a:ext cx="108813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primarily used</a:t>
            </a:r>
            <a:endParaRPr lang="en-US" sz="800" dirty="0"/>
          </a:p>
        </p:txBody>
      </p:sp>
      <p:sp>
        <p:nvSpPr>
          <p:cNvPr id="77" name="Shape 59"/>
          <p:cNvSpPr/>
          <p:nvPr/>
        </p:nvSpPr>
        <p:spPr>
          <a:xfrm>
            <a:off x="4820107" y="2366468"/>
            <a:ext cx="3343046" cy="562356"/>
          </a:xfrm>
          <a:prstGeom prst="roundRect">
            <a:avLst>
              <a:gd name="adj" fmla="val 44095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60"/>
          <p:cNvSpPr/>
          <p:nvPr/>
        </p:nvSpPr>
        <p:spPr>
          <a:xfrm>
            <a:off x="4962754" y="2511857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61"/>
          <p:cNvSpPr txBox="1"/>
          <p:nvPr/>
        </p:nvSpPr>
        <p:spPr>
          <a:xfrm>
            <a:off x="4934407" y="2511857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900" dirty="0"/>
          </a:p>
        </p:txBody>
      </p:sp>
      <p:sp>
        <p:nvSpPr>
          <p:cNvPr id="80" name="Text 62"/>
          <p:cNvSpPr txBox="1"/>
          <p:nvPr/>
        </p:nvSpPr>
        <p:spPr>
          <a:xfrm>
            <a:off x="5344059" y="2471624"/>
            <a:ext cx="9912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900" dirty="0"/>
          </a:p>
        </p:txBody>
      </p:sp>
      <p:sp>
        <p:nvSpPr>
          <p:cNvPr id="81" name="Text 63"/>
          <p:cNvSpPr txBox="1"/>
          <p:nvPr/>
        </p:nvSpPr>
        <p:spPr>
          <a:xfrm>
            <a:off x="5344059" y="2661819"/>
            <a:ext cx="108813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primarily used</a:t>
            </a:r>
            <a:endParaRPr lang="en-US" sz="800" dirty="0"/>
          </a:p>
        </p:txBody>
      </p:sp>
      <p:sp>
        <p:nvSpPr>
          <p:cNvPr id="82" name="Shape 64"/>
          <p:cNvSpPr/>
          <p:nvPr/>
        </p:nvSpPr>
        <p:spPr>
          <a:xfrm>
            <a:off x="5439156" y="494324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3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525110" y="5029200"/>
            <a:ext cx="133502" cy="133502"/>
          </a:xfrm>
          <a:prstGeom prst="rect">
            <a:avLst/>
          </a:prstGeom>
        </p:spPr>
      </p:pic>
      <p:sp>
        <p:nvSpPr>
          <p:cNvPr id="84" name="Text 65"/>
          <p:cNvSpPr txBox="1"/>
          <p:nvPr/>
        </p:nvSpPr>
        <p:spPr>
          <a:xfrm>
            <a:off x="4943551" y="5324552"/>
            <a:ext cx="12957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Data</a:t>
            </a:r>
            <a:endParaRPr lang="en-US" sz="800" dirty="0"/>
          </a:p>
        </p:txBody>
      </p:sp>
      <p:sp>
        <p:nvSpPr>
          <p:cNvPr id="85" name="Shape 66"/>
          <p:cNvSpPr/>
          <p:nvPr/>
        </p:nvSpPr>
        <p:spPr>
          <a:xfrm>
            <a:off x="6753149" y="494324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6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6839103" y="5029200"/>
            <a:ext cx="133502" cy="133502"/>
          </a:xfrm>
          <a:prstGeom prst="rect">
            <a:avLst/>
          </a:prstGeom>
        </p:spPr>
      </p:pic>
      <p:sp>
        <p:nvSpPr>
          <p:cNvPr id="87" name="Text 67"/>
          <p:cNvSpPr txBox="1"/>
          <p:nvPr/>
        </p:nvSpPr>
        <p:spPr>
          <a:xfrm>
            <a:off x="6258459" y="5324552"/>
            <a:ext cx="12957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</a:t>
            </a:r>
            <a:endParaRPr lang="en-US" sz="800" dirty="0"/>
          </a:p>
        </p:txBody>
      </p:sp>
      <p:sp>
        <p:nvSpPr>
          <p:cNvPr id="88" name="Shape 68"/>
          <p:cNvSpPr/>
          <p:nvPr/>
        </p:nvSpPr>
        <p:spPr>
          <a:xfrm>
            <a:off x="8068056" y="494324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9" name="Image 18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154010" y="5029200"/>
            <a:ext cx="133502" cy="133502"/>
          </a:xfrm>
          <a:prstGeom prst="rect">
            <a:avLst/>
          </a:prstGeom>
        </p:spPr>
      </p:pic>
      <p:sp>
        <p:nvSpPr>
          <p:cNvPr id="90" name="Text 69"/>
          <p:cNvSpPr txBox="1"/>
          <p:nvPr/>
        </p:nvSpPr>
        <p:spPr>
          <a:xfrm>
            <a:off x="7572451" y="5324552"/>
            <a:ext cx="12957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Analysis</a:t>
            </a:r>
            <a:endParaRPr lang="en-US" sz="800" dirty="0"/>
          </a:p>
        </p:txBody>
      </p:sp>
      <p:sp>
        <p:nvSpPr>
          <p:cNvPr id="91" name="Shape 70"/>
          <p:cNvSpPr/>
          <p:nvPr/>
        </p:nvSpPr>
        <p:spPr>
          <a:xfrm>
            <a:off x="9382049" y="494324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2" name="Image 19" descr="preencoded.png"/>
          <p:cNvPicPr>
            <a:picLocks noChangeAspect="1"/>
          </p:cNvPicPr>
          <p:nvPr/>
        </p:nvPicPr>
        <p:blipFill>
          <a:blip r:embed="rId22"/>
          <a:srcRect l="-2512" r="-2512"/>
          <a:stretch/>
        </p:blipFill>
        <p:spPr>
          <a:xfrm>
            <a:off x="9482633" y="5029200"/>
            <a:ext cx="105156" cy="133502"/>
          </a:xfrm>
          <a:prstGeom prst="rect">
            <a:avLst/>
          </a:prstGeom>
        </p:spPr>
      </p:pic>
      <p:sp>
        <p:nvSpPr>
          <p:cNvPr id="93" name="Text 71"/>
          <p:cNvSpPr txBox="1"/>
          <p:nvPr/>
        </p:nvSpPr>
        <p:spPr>
          <a:xfrm>
            <a:off x="8887359" y="5324552"/>
            <a:ext cx="12957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800" dirty="0"/>
          </a:p>
        </p:txBody>
      </p:sp>
      <p:sp>
        <p:nvSpPr>
          <p:cNvPr id="94" name="Shape 72"/>
          <p:cNvSpPr/>
          <p:nvPr/>
        </p:nvSpPr>
        <p:spPr>
          <a:xfrm>
            <a:off x="10696956" y="494324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5" name="Image 20" descr="preencoded.png"/>
          <p:cNvPicPr>
            <a:picLocks noChangeAspect="1"/>
          </p:cNvPicPr>
          <p:nvPr/>
        </p:nvPicPr>
        <p:blipFill>
          <a:blip r:embed="rId23"/>
          <a:srcRect l="-1507" r="-1507"/>
          <a:stretch/>
        </p:blipFill>
        <p:spPr>
          <a:xfrm>
            <a:off x="10763707" y="5029200"/>
            <a:ext cx="171907" cy="133502"/>
          </a:xfrm>
          <a:prstGeom prst="rect">
            <a:avLst/>
          </a:prstGeom>
        </p:spPr>
      </p:pic>
      <p:sp>
        <p:nvSpPr>
          <p:cNvPr id="96" name="Text 73"/>
          <p:cNvSpPr txBox="1"/>
          <p:nvPr/>
        </p:nvSpPr>
        <p:spPr>
          <a:xfrm>
            <a:off x="10201351" y="5324552"/>
            <a:ext cx="12957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9783" y="12801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Detail Use Case 03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99783" y="526694"/>
            <a:ext cx="2823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Self-Healing Network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311856" y="555040"/>
            <a:ext cx="22448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Priority: High / Uplift Required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1468" y="4319626"/>
            <a:ext cx="3866998" cy="1162202"/>
          </a:xfrm>
          <a:prstGeom prst="roundRect">
            <a:avLst>
              <a:gd name="adj" fmla="val 1547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468" y="4319626"/>
            <a:ext cx="38405" cy="1162202"/>
          </a:xfrm>
          <a:prstGeom prst="roundRect">
            <a:avLst>
              <a:gd name="adj" fmla="val 468382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90068" y="4509821"/>
            <a:ext cx="3562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Components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90068" y="4723791"/>
            <a:ext cx="35250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Closed-loop automation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Policy engine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Safe execution guardrails 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957573" y="819303"/>
            <a:ext cx="6667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AMDL Lifecycle Mapping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770" y="819303"/>
            <a:ext cx="466984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4709770" y="852221"/>
            <a:ext cx="152705" cy="1335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67117" y="1132942"/>
            <a:ext cx="3343046" cy="571500"/>
          </a:xfrm>
          <a:prstGeom prst="roundRect">
            <a:avLst>
              <a:gd name="adj" fmla="val 42667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09763" y="126644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8281417" y="1266445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729473" y="1238098"/>
            <a:ext cx="18388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8729473" y="1442924"/>
            <a:ext cx="20976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remediation (reroute/reset)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8167117" y="1818742"/>
            <a:ext cx="3343046" cy="571500"/>
          </a:xfrm>
          <a:prstGeom prst="roundRect">
            <a:avLst>
              <a:gd name="adj" fmla="val 42667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309763" y="195224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8281417" y="1952245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8729473" y="1923898"/>
            <a:ext cx="1324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LOOKUP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729473" y="2128724"/>
            <a:ext cx="14849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fault via telemetry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4929226" y="2628901"/>
            <a:ext cx="66961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Key Data Inputs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709770" y="2628901"/>
            <a:ext cx="532272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 l="-2838" r="-2838"/>
          <a:stretch/>
        </p:blipFill>
        <p:spPr>
          <a:xfrm>
            <a:off x="4709770" y="2661819"/>
            <a:ext cx="123444" cy="13350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709770" y="2943454"/>
            <a:ext cx="3343046" cy="590702"/>
          </a:xfrm>
          <a:prstGeom prst="roundRect">
            <a:avLst>
              <a:gd name="adj" fmla="val 3994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52417" y="3095245"/>
            <a:ext cx="133502" cy="13350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081017" y="3066898"/>
            <a:ext cx="21598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State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5081017" y="3271724"/>
            <a:ext cx="247162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BGP/OSPF neighbor changes, route flaps.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8167117" y="2943454"/>
            <a:ext cx="3343046" cy="590702"/>
          </a:xfrm>
          <a:prstGeom prst="roundRect">
            <a:avLst>
              <a:gd name="adj" fmla="val 3994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09763" y="3095245"/>
            <a:ext cx="133502" cy="13350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538363" y="3066898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Metrics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8538363" y="3271724"/>
            <a:ext cx="15983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Errors, drops, utilization %.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4709770" y="3645713"/>
            <a:ext cx="3343046" cy="590702"/>
          </a:xfrm>
          <a:prstGeom prst="roundRect">
            <a:avLst>
              <a:gd name="adj" fmla="val 3994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4852417" y="3798418"/>
            <a:ext cx="171907" cy="13350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5119422" y="3770072"/>
            <a:ext cx="1657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5119422" y="3974897"/>
            <a:ext cx="188183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Latency, jitter, packet loss stats.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8167117" y="3645713"/>
            <a:ext cx="3343046" cy="590702"/>
          </a:xfrm>
          <a:prstGeom prst="roundRect">
            <a:avLst>
              <a:gd name="adj" fmla="val 3994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 l="-1507" r="-1507"/>
          <a:stretch/>
        </p:blipFill>
        <p:spPr>
          <a:xfrm>
            <a:off x="8309763" y="3798418"/>
            <a:ext cx="171907" cy="1335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576768" y="3770072"/>
            <a:ext cx="1543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Status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8576768" y="3974897"/>
            <a:ext cx="17455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link up/down events.</a:t>
            </a:r>
            <a:endParaRPr lang="en-US" sz="800" dirty="0"/>
          </a:p>
        </p:txBody>
      </p:sp>
      <p:sp>
        <p:nvSpPr>
          <p:cNvPr id="45" name="Text 36"/>
          <p:cNvSpPr txBox="1"/>
          <p:nvPr/>
        </p:nvSpPr>
        <p:spPr>
          <a:xfrm>
            <a:off x="4947514" y="4472331"/>
            <a:ext cx="6677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Technology Stack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4709770" y="4472331"/>
            <a:ext cx="510326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rcRect l="-3425" r="-3425"/>
          <a:stretch/>
        </p:blipFill>
        <p:spPr>
          <a:xfrm>
            <a:off x="4709770" y="4506164"/>
            <a:ext cx="142646" cy="133502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4709770" y="4786885"/>
            <a:ext cx="2190902" cy="733349"/>
          </a:xfrm>
          <a:prstGeom prst="roundRect">
            <a:avLst>
              <a:gd name="adj" fmla="val 25909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9"/>
          <p:cNvSpPr txBox="1"/>
          <p:nvPr/>
        </p:nvSpPr>
        <p:spPr>
          <a:xfrm>
            <a:off x="4814012" y="4892041"/>
            <a:ext cx="2061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ML Models</a:t>
            </a:r>
            <a:endParaRPr lang="en-US" sz="800" dirty="0"/>
          </a:p>
        </p:txBody>
      </p:sp>
      <p:sp>
        <p:nvSpPr>
          <p:cNvPr id="50" name="Text 40"/>
          <p:cNvSpPr txBox="1"/>
          <p:nvPr/>
        </p:nvSpPr>
        <p:spPr>
          <a:xfrm>
            <a:off x="4814012" y="5073092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PyTorch, Scikit-learn (Anomaly Detection)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7014973" y="4786885"/>
            <a:ext cx="2190902" cy="733349"/>
          </a:xfrm>
          <a:prstGeom prst="roundRect">
            <a:avLst>
              <a:gd name="adj" fmla="val 25909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2"/>
          <p:cNvSpPr txBox="1"/>
          <p:nvPr/>
        </p:nvSpPr>
        <p:spPr>
          <a:xfrm>
            <a:off x="7119214" y="4892041"/>
            <a:ext cx="2061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53" name="Text 43"/>
          <p:cNvSpPr txBox="1"/>
          <p:nvPr/>
        </p:nvSpPr>
        <p:spPr>
          <a:xfrm>
            <a:off x="7119214" y="5073092"/>
            <a:ext cx="23582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Ansible, Cisco NSO (Orchestration)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9320175" y="4786885"/>
            <a:ext cx="2190902" cy="733349"/>
          </a:xfrm>
          <a:prstGeom prst="roundRect">
            <a:avLst>
              <a:gd name="adj" fmla="val 25909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5"/>
          <p:cNvSpPr txBox="1"/>
          <p:nvPr/>
        </p:nvSpPr>
        <p:spPr>
          <a:xfrm>
            <a:off x="9424417" y="4892041"/>
            <a:ext cx="2061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</a:t>
            </a:r>
            <a:endParaRPr lang="en-US" sz="800" dirty="0"/>
          </a:p>
        </p:txBody>
      </p:sp>
      <p:sp>
        <p:nvSpPr>
          <p:cNvPr id="56" name="Text 46"/>
          <p:cNvSpPr txBox="1"/>
          <p:nvPr/>
        </p:nvSpPr>
        <p:spPr>
          <a:xfrm>
            <a:off x="9424417" y="5073092"/>
            <a:ext cx="22055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gNMI, SNMP, NetFlow (Ingestion)</a:t>
            </a:r>
            <a:endParaRPr lang="en-US" sz="900" dirty="0"/>
          </a:p>
        </p:txBody>
      </p:sp>
      <p:sp>
        <p:nvSpPr>
          <p:cNvPr id="57" name="Text 47"/>
          <p:cNvSpPr txBox="1"/>
          <p:nvPr/>
        </p:nvSpPr>
        <p:spPr>
          <a:xfrm>
            <a:off x="4947514" y="5758892"/>
            <a:ext cx="6677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Implementation Flow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4709770" y="5758892"/>
            <a:ext cx="487375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1"/>
          <a:srcRect l="-3425" r="-3425"/>
          <a:stretch/>
        </p:blipFill>
        <p:spPr>
          <a:xfrm>
            <a:off x="4709770" y="5791810"/>
            <a:ext cx="142646" cy="133502"/>
          </a:xfrm>
          <a:prstGeom prst="rect">
            <a:avLst/>
          </a:prstGeom>
        </p:spPr>
      </p:pic>
      <p:sp>
        <p:nvSpPr>
          <p:cNvPr id="60" name="Shape 49"/>
          <p:cNvSpPr/>
          <p:nvPr/>
        </p:nvSpPr>
        <p:spPr>
          <a:xfrm>
            <a:off x="4709770" y="6072531"/>
            <a:ext cx="6801307" cy="676656"/>
          </a:xfrm>
          <a:prstGeom prst="roundRect">
            <a:avLst>
              <a:gd name="adj" fmla="val 3045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0"/>
          <p:cNvSpPr/>
          <p:nvPr/>
        </p:nvSpPr>
        <p:spPr>
          <a:xfrm>
            <a:off x="461468" y="819303"/>
            <a:ext cx="3866998" cy="3219602"/>
          </a:xfrm>
          <a:prstGeom prst="roundRect">
            <a:avLst>
              <a:gd name="adj" fmla="val 268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1"/>
          <p:cNvSpPr/>
          <p:nvPr/>
        </p:nvSpPr>
        <p:spPr>
          <a:xfrm>
            <a:off x="461468" y="819303"/>
            <a:ext cx="38405" cy="3195828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2"/>
          <p:cNvSpPr/>
          <p:nvPr/>
        </p:nvSpPr>
        <p:spPr>
          <a:xfrm>
            <a:off x="756819" y="1114654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09524" y="1266445"/>
            <a:ext cx="304495" cy="304495"/>
          </a:xfrm>
          <a:prstGeom prst="rect">
            <a:avLst/>
          </a:prstGeom>
        </p:spPr>
      </p:pic>
      <p:sp>
        <p:nvSpPr>
          <p:cNvPr id="65" name="Text 53"/>
          <p:cNvSpPr txBox="1"/>
          <p:nvPr/>
        </p:nvSpPr>
        <p:spPr>
          <a:xfrm>
            <a:off x="756819" y="1952245"/>
            <a:ext cx="342168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Self-Healing Network</a:t>
            </a:r>
            <a:endParaRPr lang="en-US" sz="2100" dirty="0"/>
          </a:p>
        </p:txBody>
      </p:sp>
      <p:sp>
        <p:nvSpPr>
          <p:cNvPr id="66" name="Text 54"/>
          <p:cNvSpPr txBox="1"/>
          <p:nvPr/>
        </p:nvSpPr>
        <p:spPr>
          <a:xfrm>
            <a:off x="756819" y="2467052"/>
            <a:ext cx="3353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automated response mechanisms that restore service availability when degradation or failures occur without human intervention.</a:t>
            </a:r>
            <a:endParaRPr lang="en-US" sz="1100" dirty="0"/>
          </a:p>
        </p:txBody>
      </p:sp>
      <p:sp>
        <p:nvSpPr>
          <p:cNvPr id="67" name="Shape 55"/>
          <p:cNvSpPr/>
          <p:nvPr/>
        </p:nvSpPr>
        <p:spPr>
          <a:xfrm>
            <a:off x="756819" y="3381452"/>
            <a:ext cx="1600200" cy="362102"/>
          </a:xfrm>
          <a:prstGeom prst="roundRect">
            <a:avLst>
              <a:gd name="adj" fmla="val 252526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56"/>
          <p:cNvSpPr/>
          <p:nvPr/>
        </p:nvSpPr>
        <p:spPr>
          <a:xfrm>
            <a:off x="1118922" y="3381452"/>
            <a:ext cx="1302106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Requires Uplift </a:t>
            </a:r>
            <a:endParaRPr lang="en-US" sz="900" dirty="0"/>
          </a:p>
        </p:txBody>
      </p:sp>
      <p:pic>
        <p:nvPicPr>
          <p:cNvPr id="69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18668" y="3497581"/>
            <a:ext cx="123444" cy="123444"/>
          </a:xfrm>
          <a:prstGeom prst="rect">
            <a:avLst/>
          </a:prstGeom>
        </p:spPr>
      </p:pic>
      <p:sp>
        <p:nvSpPr>
          <p:cNvPr id="70" name="Shape 57"/>
          <p:cNvSpPr/>
          <p:nvPr/>
        </p:nvSpPr>
        <p:spPr>
          <a:xfrm>
            <a:off x="4709770" y="1132942"/>
            <a:ext cx="3343046" cy="571500"/>
          </a:xfrm>
          <a:prstGeom prst="roundRect">
            <a:avLst>
              <a:gd name="adj" fmla="val 42667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58"/>
          <p:cNvSpPr/>
          <p:nvPr/>
        </p:nvSpPr>
        <p:spPr>
          <a:xfrm>
            <a:off x="4852417" y="126644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59"/>
          <p:cNvSpPr txBox="1"/>
          <p:nvPr/>
        </p:nvSpPr>
        <p:spPr>
          <a:xfrm>
            <a:off x="4824070" y="1266445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000" dirty="0"/>
          </a:p>
        </p:txBody>
      </p:sp>
      <p:sp>
        <p:nvSpPr>
          <p:cNvPr id="73" name="Text 60"/>
          <p:cNvSpPr txBox="1"/>
          <p:nvPr/>
        </p:nvSpPr>
        <p:spPr>
          <a:xfrm>
            <a:off x="5271212" y="1238098"/>
            <a:ext cx="1390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</a:t>
            </a:r>
            <a:endParaRPr lang="en-US" sz="900" dirty="0"/>
          </a:p>
        </p:txBody>
      </p:sp>
      <p:sp>
        <p:nvSpPr>
          <p:cNvPr id="74" name="Text 61"/>
          <p:cNvSpPr txBox="1"/>
          <p:nvPr/>
        </p:nvSpPr>
        <p:spPr>
          <a:xfrm>
            <a:off x="5271212" y="1442924"/>
            <a:ext cx="15645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automation policies</a:t>
            </a:r>
            <a:endParaRPr lang="en-US" sz="800" dirty="0"/>
          </a:p>
        </p:txBody>
      </p:sp>
      <p:sp>
        <p:nvSpPr>
          <p:cNvPr id="75" name="Shape 62"/>
          <p:cNvSpPr/>
          <p:nvPr/>
        </p:nvSpPr>
        <p:spPr>
          <a:xfrm>
            <a:off x="4709770" y="1818742"/>
            <a:ext cx="3343046" cy="571500"/>
          </a:xfrm>
          <a:prstGeom prst="roundRect">
            <a:avLst>
              <a:gd name="adj" fmla="val 42667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63"/>
          <p:cNvSpPr/>
          <p:nvPr/>
        </p:nvSpPr>
        <p:spPr>
          <a:xfrm>
            <a:off x="4852417" y="195224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64"/>
          <p:cNvSpPr txBox="1"/>
          <p:nvPr/>
        </p:nvSpPr>
        <p:spPr>
          <a:xfrm>
            <a:off x="4824070" y="1952245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000" dirty="0"/>
          </a:p>
        </p:txBody>
      </p:sp>
      <p:sp>
        <p:nvSpPr>
          <p:cNvPr id="78" name="Text 65"/>
          <p:cNvSpPr txBox="1"/>
          <p:nvPr/>
        </p:nvSpPr>
        <p:spPr>
          <a:xfrm>
            <a:off x="5271212" y="1923898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900" dirty="0"/>
          </a:p>
        </p:txBody>
      </p:sp>
      <p:sp>
        <p:nvSpPr>
          <p:cNvPr id="79" name="Text 66"/>
          <p:cNvSpPr txBox="1"/>
          <p:nvPr/>
        </p:nvSpPr>
        <p:spPr>
          <a:xfrm>
            <a:off x="5271212" y="2128724"/>
            <a:ext cx="14319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temporary fixes</a:t>
            </a:r>
            <a:endParaRPr lang="en-US" sz="800" dirty="0"/>
          </a:p>
        </p:txBody>
      </p:sp>
      <p:pic>
        <p:nvPicPr>
          <p:cNvPr id="80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576622" y="6234380"/>
            <a:ext cx="152705" cy="152705"/>
          </a:xfrm>
          <a:prstGeom prst="rect">
            <a:avLst/>
          </a:prstGeom>
        </p:spPr>
      </p:pic>
      <p:sp>
        <p:nvSpPr>
          <p:cNvPr id="81" name="Text 67"/>
          <p:cNvSpPr txBox="1"/>
          <p:nvPr/>
        </p:nvSpPr>
        <p:spPr>
          <a:xfrm>
            <a:off x="4795724" y="6462980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Detection</a:t>
            </a:r>
            <a:endParaRPr lang="en-US" sz="800" dirty="0"/>
          </a:p>
        </p:txBody>
      </p:sp>
      <p:pic>
        <p:nvPicPr>
          <p:cNvPr id="82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214312" y="6234380"/>
            <a:ext cx="152705" cy="152705"/>
          </a:xfrm>
          <a:prstGeom prst="rect">
            <a:avLst/>
          </a:prstGeom>
        </p:spPr>
      </p:pic>
      <p:sp>
        <p:nvSpPr>
          <p:cNvPr id="83" name="Text 68"/>
          <p:cNvSpPr txBox="1"/>
          <p:nvPr/>
        </p:nvSpPr>
        <p:spPr>
          <a:xfrm>
            <a:off x="6433414" y="6462980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Decision</a:t>
            </a:r>
            <a:endParaRPr lang="en-US" sz="800" dirty="0"/>
          </a:p>
        </p:txBody>
      </p:sp>
      <p:pic>
        <p:nvPicPr>
          <p:cNvPr id="84" name="Image 13" descr="preencoded.png"/>
          <p:cNvPicPr>
            <a:picLocks noChangeAspect="1"/>
          </p:cNvPicPr>
          <p:nvPr/>
        </p:nvPicPr>
        <p:blipFill>
          <a:blip r:embed="rId16"/>
          <a:srcRect l="-33" r="-33"/>
          <a:stretch/>
        </p:blipFill>
        <p:spPr>
          <a:xfrm>
            <a:off x="8843773" y="6234380"/>
            <a:ext cx="171907" cy="152705"/>
          </a:xfrm>
          <a:prstGeom prst="rect">
            <a:avLst/>
          </a:prstGeom>
        </p:spPr>
      </p:pic>
      <p:sp>
        <p:nvSpPr>
          <p:cNvPr id="85" name="Text 69"/>
          <p:cNvSpPr txBox="1"/>
          <p:nvPr/>
        </p:nvSpPr>
        <p:spPr>
          <a:xfrm>
            <a:off x="8072019" y="6462980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Remediation</a:t>
            </a:r>
            <a:endParaRPr lang="en-US" sz="800" dirty="0"/>
          </a:p>
        </p:txBody>
      </p:sp>
      <p:pic>
        <p:nvPicPr>
          <p:cNvPr id="86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491522" y="6234380"/>
            <a:ext cx="152705" cy="152705"/>
          </a:xfrm>
          <a:prstGeom prst="rect">
            <a:avLst/>
          </a:prstGeom>
        </p:spPr>
      </p:pic>
      <p:sp>
        <p:nvSpPr>
          <p:cNvPr id="87" name="Text 70"/>
          <p:cNvSpPr txBox="1"/>
          <p:nvPr/>
        </p:nvSpPr>
        <p:spPr>
          <a:xfrm>
            <a:off x="9710624" y="6462980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3515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Detail Use Case 04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895198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Capacity &amp; Performance Intelligence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640873" y="923544"/>
            <a:ext cx="986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Priority: High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1500" y="5205679"/>
            <a:ext cx="3866998" cy="1514246"/>
          </a:xfrm>
          <a:prstGeom prst="roundRect">
            <a:avLst>
              <a:gd name="adj" fmla="val 9115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5205679"/>
            <a:ext cx="38405" cy="1514246"/>
          </a:xfrm>
          <a:prstGeom prst="roundRect">
            <a:avLst>
              <a:gd name="adj" fmla="val 35938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00100" y="5395874"/>
            <a:ext cx="3562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Data Sources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961949" y="5629046"/>
            <a:ext cx="3400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Historical interface utilization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800100" y="5674766"/>
            <a:ext cx="85954" cy="9509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72007" y="5853074"/>
            <a:ext cx="33905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Traffic flow data (NetFlow/IPFIX)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5898794"/>
            <a:ext cx="95098" cy="9509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72007" y="6077102"/>
            <a:ext cx="33905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Time-of-day usage patterns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0100" y="6121908"/>
            <a:ext cx="95098" cy="9509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72007" y="6301130"/>
            <a:ext cx="33905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Application traffic trends</a:t>
            </a:r>
            <a:endParaRPr lang="en-US" sz="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0100" y="6345936"/>
            <a:ext cx="95098" cy="9509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067605" y="1705356"/>
            <a:ext cx="6667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AMDL Lifecycle Mapping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819802" y="1705356"/>
            <a:ext cx="466984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4819802" y="1738274"/>
            <a:ext cx="152705" cy="13350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277149" y="2018995"/>
            <a:ext cx="3343046" cy="552298"/>
          </a:xfrm>
          <a:prstGeom prst="roundRect">
            <a:avLst>
              <a:gd name="adj" fmla="val 45672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8419795" y="2159813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 txBox="1"/>
          <p:nvPr/>
        </p:nvSpPr>
        <p:spPr>
          <a:xfrm>
            <a:off x="8391449" y="2159813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8801100" y="2124151"/>
            <a:ext cx="17437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8801100" y="2305202"/>
            <a:ext cx="198424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traffic policies / bandwidth</a:t>
            </a:r>
            <a:endParaRPr lang="en-US" sz="800" dirty="0"/>
          </a:p>
        </p:txBody>
      </p:sp>
      <p:sp>
        <p:nvSpPr>
          <p:cNvPr id="28" name="Shape 20"/>
          <p:cNvSpPr/>
          <p:nvPr/>
        </p:nvSpPr>
        <p:spPr>
          <a:xfrm>
            <a:off x="8277149" y="2681021"/>
            <a:ext cx="3343046" cy="552298"/>
          </a:xfrm>
          <a:prstGeom prst="roundRect">
            <a:avLst>
              <a:gd name="adj" fmla="val 45672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8419795" y="2821838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 txBox="1"/>
          <p:nvPr/>
        </p:nvSpPr>
        <p:spPr>
          <a:xfrm>
            <a:off x="8391449" y="2821838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8801100" y="2786177"/>
            <a:ext cx="20308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LOOKUP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8801100" y="2967228"/>
            <a:ext cx="2324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historical &amp; real-time telemetry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5039258" y="3457346"/>
            <a:ext cx="66961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Implementation Workflow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819802" y="3457346"/>
            <a:ext cx="4496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l="-2838" r="-2838"/>
          <a:stretch/>
        </p:blipFill>
        <p:spPr>
          <a:xfrm>
            <a:off x="4819802" y="3491179"/>
            <a:ext cx="123444" cy="133502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4819802" y="3771900"/>
            <a:ext cx="6801307" cy="580644"/>
          </a:xfrm>
          <a:prstGeom prst="roundRect">
            <a:avLst>
              <a:gd name="adj" fmla="val 4130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8"/>
          <p:cNvSpPr/>
          <p:nvPr/>
        </p:nvSpPr>
        <p:spPr>
          <a:xfrm>
            <a:off x="4943246" y="3895344"/>
            <a:ext cx="1466698" cy="333756"/>
          </a:xfrm>
          <a:prstGeom prst="roundRect">
            <a:avLst>
              <a:gd name="adj" fmla="val 93933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 txBox="1"/>
          <p:nvPr/>
        </p:nvSpPr>
        <p:spPr>
          <a:xfrm>
            <a:off x="4990795" y="3981298"/>
            <a:ext cx="137251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Aggregation</a:t>
            </a:r>
            <a:endParaRPr lang="en-US" sz="8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6479438" y="4012387"/>
            <a:ext cx="85954" cy="95098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6641287" y="3895344"/>
            <a:ext cx="1466698" cy="333756"/>
          </a:xfrm>
          <a:prstGeom prst="roundRect">
            <a:avLst>
              <a:gd name="adj" fmla="val 93933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/>
          <p:cNvSpPr txBox="1"/>
          <p:nvPr/>
        </p:nvSpPr>
        <p:spPr>
          <a:xfrm>
            <a:off x="6688836" y="3981298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Forecasting Models</a:t>
            </a:r>
            <a:endParaRPr lang="en-US" sz="8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8177479" y="4012387"/>
            <a:ext cx="85954" cy="95098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8339328" y="3895344"/>
            <a:ext cx="1466698" cy="333756"/>
          </a:xfrm>
          <a:prstGeom prst="roundRect">
            <a:avLst>
              <a:gd name="adj" fmla="val 93933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3"/>
          <p:cNvSpPr txBox="1"/>
          <p:nvPr/>
        </p:nvSpPr>
        <p:spPr>
          <a:xfrm>
            <a:off x="8386877" y="3981298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Engine</a:t>
            </a:r>
            <a:endParaRPr lang="en-US" sz="8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9874606" y="4012387"/>
            <a:ext cx="85954" cy="95098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10037369" y="3895344"/>
            <a:ext cx="1466698" cy="333756"/>
          </a:xfrm>
          <a:prstGeom prst="roundRect">
            <a:avLst>
              <a:gd name="adj" fmla="val 93933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5"/>
          <p:cNvSpPr txBox="1"/>
          <p:nvPr/>
        </p:nvSpPr>
        <p:spPr>
          <a:xfrm>
            <a:off x="10084918" y="3981298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Alerts</a:t>
            </a:r>
            <a:endParaRPr lang="en-US" sz="800" dirty="0"/>
          </a:p>
        </p:txBody>
      </p:sp>
      <p:sp>
        <p:nvSpPr>
          <p:cNvPr id="48" name="Text 36"/>
          <p:cNvSpPr txBox="1"/>
          <p:nvPr/>
        </p:nvSpPr>
        <p:spPr>
          <a:xfrm>
            <a:off x="5057546" y="4614977"/>
            <a:ext cx="6677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Technology Stack</a:t>
            </a:r>
            <a:endParaRPr lang="en-US" sz="1000" dirty="0"/>
          </a:p>
        </p:txBody>
      </p:sp>
      <p:sp>
        <p:nvSpPr>
          <p:cNvPr id="49" name="Shape 37"/>
          <p:cNvSpPr/>
          <p:nvPr/>
        </p:nvSpPr>
        <p:spPr>
          <a:xfrm>
            <a:off x="4819802" y="4614977"/>
            <a:ext cx="510326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1"/>
          <a:srcRect l="-3425" r="-3425"/>
          <a:stretch/>
        </p:blipFill>
        <p:spPr>
          <a:xfrm>
            <a:off x="4819802" y="4647895"/>
            <a:ext cx="142646" cy="133502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4819802" y="4929530"/>
            <a:ext cx="3343046" cy="580644"/>
          </a:xfrm>
          <a:prstGeom prst="roundRect">
            <a:avLst>
              <a:gd name="adj" fmla="val 4130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943246" y="5072177"/>
            <a:ext cx="133502" cy="133502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5171846" y="5052974"/>
            <a:ext cx="18955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ML Models</a:t>
            </a:r>
            <a:endParaRPr lang="en-US" sz="900" dirty="0"/>
          </a:p>
        </p:txBody>
      </p:sp>
      <p:sp>
        <p:nvSpPr>
          <p:cNvPr id="54" name="Text 40"/>
          <p:cNvSpPr txBox="1"/>
          <p:nvPr/>
        </p:nvSpPr>
        <p:spPr>
          <a:xfrm>
            <a:off x="5171846" y="5243170"/>
            <a:ext cx="214792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Prophet, TensorFlow (LSTM), ARIMA</a:t>
            </a:r>
            <a:endParaRPr lang="en-US" sz="800" dirty="0"/>
          </a:p>
        </p:txBody>
      </p:sp>
      <p:sp>
        <p:nvSpPr>
          <p:cNvPr id="55" name="Shape 41"/>
          <p:cNvSpPr/>
          <p:nvPr/>
        </p:nvSpPr>
        <p:spPr>
          <a:xfrm>
            <a:off x="8277149" y="4929530"/>
            <a:ext cx="3343046" cy="580644"/>
          </a:xfrm>
          <a:prstGeom prst="roundRect">
            <a:avLst>
              <a:gd name="adj" fmla="val 4130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8401507" y="5072177"/>
            <a:ext cx="114300" cy="133502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8610905" y="5052974"/>
            <a:ext cx="13990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Time-Series Storage</a:t>
            </a:r>
            <a:endParaRPr lang="en-US" sz="900" dirty="0"/>
          </a:p>
        </p:txBody>
      </p:sp>
      <p:sp>
        <p:nvSpPr>
          <p:cNvPr id="58" name="Text 43"/>
          <p:cNvSpPr txBox="1"/>
          <p:nvPr/>
        </p:nvSpPr>
        <p:spPr>
          <a:xfrm>
            <a:off x="8610905" y="5243170"/>
            <a:ext cx="1381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InfluxDB, Prometheus</a:t>
            </a:r>
            <a:endParaRPr lang="en-US" sz="800" dirty="0"/>
          </a:p>
        </p:txBody>
      </p:sp>
      <p:sp>
        <p:nvSpPr>
          <p:cNvPr id="59" name="Shape 44"/>
          <p:cNvSpPr/>
          <p:nvPr/>
        </p:nvSpPr>
        <p:spPr>
          <a:xfrm>
            <a:off x="4819802" y="5618074"/>
            <a:ext cx="3343046" cy="580644"/>
          </a:xfrm>
          <a:prstGeom prst="roundRect">
            <a:avLst>
              <a:gd name="adj" fmla="val 4130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943246" y="5760720"/>
            <a:ext cx="133502" cy="133502"/>
          </a:xfrm>
          <a:prstGeom prst="rect">
            <a:avLst/>
          </a:prstGeom>
        </p:spPr>
      </p:pic>
      <p:sp>
        <p:nvSpPr>
          <p:cNvPr id="61" name="Text 45"/>
          <p:cNvSpPr txBox="1"/>
          <p:nvPr/>
        </p:nvSpPr>
        <p:spPr>
          <a:xfrm>
            <a:off x="5171846" y="5741518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62" name="Text 46"/>
          <p:cNvSpPr txBox="1"/>
          <p:nvPr/>
        </p:nvSpPr>
        <p:spPr>
          <a:xfrm>
            <a:off x="5171846" y="5931713"/>
            <a:ext cx="123718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Spark, Kafka</a:t>
            </a:r>
            <a:endParaRPr lang="en-US" sz="800" dirty="0"/>
          </a:p>
        </p:txBody>
      </p:sp>
      <p:sp>
        <p:nvSpPr>
          <p:cNvPr id="63" name="Shape 47"/>
          <p:cNvSpPr/>
          <p:nvPr/>
        </p:nvSpPr>
        <p:spPr>
          <a:xfrm>
            <a:off x="8277149" y="5618074"/>
            <a:ext cx="3343046" cy="580644"/>
          </a:xfrm>
          <a:prstGeom prst="roundRect">
            <a:avLst>
              <a:gd name="adj" fmla="val 4130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401507" y="5760720"/>
            <a:ext cx="133502" cy="133502"/>
          </a:xfrm>
          <a:prstGeom prst="rect">
            <a:avLst/>
          </a:prstGeom>
        </p:spPr>
      </p:pic>
      <p:sp>
        <p:nvSpPr>
          <p:cNvPr id="65" name="Text 48"/>
          <p:cNvSpPr txBox="1"/>
          <p:nvPr/>
        </p:nvSpPr>
        <p:spPr>
          <a:xfrm>
            <a:off x="8630107" y="5741518"/>
            <a:ext cx="962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66" name="Text 49"/>
          <p:cNvSpPr txBox="1"/>
          <p:nvPr/>
        </p:nvSpPr>
        <p:spPr>
          <a:xfrm>
            <a:off x="8630107" y="5931713"/>
            <a:ext cx="97840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Grafana, Kibana</a:t>
            </a:r>
            <a:endParaRPr lang="en-US" sz="800" dirty="0"/>
          </a:p>
        </p:txBody>
      </p:sp>
      <p:sp>
        <p:nvSpPr>
          <p:cNvPr id="67" name="Shape 50"/>
          <p:cNvSpPr/>
          <p:nvPr/>
        </p:nvSpPr>
        <p:spPr>
          <a:xfrm>
            <a:off x="4819802" y="6420917"/>
            <a:ext cx="6801307" cy="381305"/>
          </a:xfrm>
          <a:prstGeom prst="roundRect">
            <a:avLst>
              <a:gd name="adj" fmla="val 9592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981651" y="6535217"/>
            <a:ext cx="152705" cy="152705"/>
          </a:xfrm>
          <a:prstGeom prst="rect">
            <a:avLst/>
          </a:prstGeom>
        </p:spPr>
      </p:pic>
      <p:sp>
        <p:nvSpPr>
          <p:cNvPr id="69" name="Text 51"/>
          <p:cNvSpPr txBox="1"/>
          <p:nvPr/>
        </p:nvSpPr>
        <p:spPr>
          <a:xfrm>
            <a:off x="5248656" y="6420917"/>
            <a:ext cx="3314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Component:</a:t>
            </a:r>
            <a:r>
              <a:rPr lang="en-US" sz="900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Forecasting Layer (AI/ML Integration)</a:t>
            </a:r>
            <a:endParaRPr lang="en-US" sz="900" dirty="0"/>
          </a:p>
        </p:txBody>
      </p:sp>
      <p:sp>
        <p:nvSpPr>
          <p:cNvPr id="70" name="Shape 52"/>
          <p:cNvSpPr/>
          <p:nvPr/>
        </p:nvSpPr>
        <p:spPr>
          <a:xfrm>
            <a:off x="571500" y="1705356"/>
            <a:ext cx="3866998" cy="3219602"/>
          </a:xfrm>
          <a:prstGeom prst="roundRect">
            <a:avLst>
              <a:gd name="adj" fmla="val 2689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53"/>
          <p:cNvSpPr/>
          <p:nvPr/>
        </p:nvSpPr>
        <p:spPr>
          <a:xfrm>
            <a:off x="571500" y="1705356"/>
            <a:ext cx="38405" cy="3195828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54"/>
          <p:cNvSpPr/>
          <p:nvPr/>
        </p:nvSpPr>
        <p:spPr>
          <a:xfrm>
            <a:off x="866851" y="2000707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19556" y="2152498"/>
            <a:ext cx="304495" cy="304495"/>
          </a:xfrm>
          <a:prstGeom prst="rect">
            <a:avLst/>
          </a:prstGeom>
        </p:spPr>
      </p:pic>
      <p:sp>
        <p:nvSpPr>
          <p:cNvPr id="74" name="Text 55"/>
          <p:cNvSpPr txBox="1"/>
          <p:nvPr/>
        </p:nvSpPr>
        <p:spPr>
          <a:xfrm>
            <a:off x="866851" y="2838298"/>
            <a:ext cx="33915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Predictive Capacity</a:t>
            </a:r>
            <a:endParaRPr lang="en-US" sz="2100" dirty="0"/>
          </a:p>
        </p:txBody>
      </p:sp>
      <p:sp>
        <p:nvSpPr>
          <p:cNvPr id="75" name="Text 56"/>
          <p:cNvSpPr txBox="1"/>
          <p:nvPr/>
        </p:nvSpPr>
        <p:spPr>
          <a:xfrm>
            <a:off x="866851" y="3353105"/>
            <a:ext cx="3353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forward-looking network insights to prevent congestion and performance degradation before they impact service.</a:t>
            </a:r>
            <a:endParaRPr lang="en-US" sz="1100" dirty="0"/>
          </a:p>
        </p:txBody>
      </p:sp>
      <p:sp>
        <p:nvSpPr>
          <p:cNvPr id="76" name="Shape 57"/>
          <p:cNvSpPr/>
          <p:nvPr/>
        </p:nvSpPr>
        <p:spPr>
          <a:xfrm>
            <a:off x="866851" y="4267505"/>
            <a:ext cx="1837944" cy="362102"/>
          </a:xfrm>
          <a:prstGeom prst="roundRect">
            <a:avLst>
              <a:gd name="adj" fmla="val 252526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58"/>
          <p:cNvSpPr/>
          <p:nvPr/>
        </p:nvSpPr>
        <p:spPr>
          <a:xfrm>
            <a:off x="1228954" y="4267505"/>
            <a:ext cx="154990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E7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Mostly Supported </a:t>
            </a:r>
            <a:endParaRPr lang="en-US" sz="900" dirty="0"/>
          </a:p>
        </p:txBody>
      </p:sp>
      <p:pic>
        <p:nvPicPr>
          <p:cNvPr id="78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28700" y="4383634"/>
            <a:ext cx="123444" cy="123444"/>
          </a:xfrm>
          <a:prstGeom prst="rect">
            <a:avLst/>
          </a:prstGeom>
        </p:spPr>
      </p:pic>
      <p:sp>
        <p:nvSpPr>
          <p:cNvPr id="79" name="Shape 59"/>
          <p:cNvSpPr/>
          <p:nvPr/>
        </p:nvSpPr>
        <p:spPr>
          <a:xfrm>
            <a:off x="4819802" y="2018995"/>
            <a:ext cx="3343046" cy="552298"/>
          </a:xfrm>
          <a:prstGeom prst="roundRect">
            <a:avLst>
              <a:gd name="adj" fmla="val 4567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60"/>
          <p:cNvSpPr/>
          <p:nvPr/>
        </p:nvSpPr>
        <p:spPr>
          <a:xfrm>
            <a:off x="4962449" y="2159813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61"/>
          <p:cNvSpPr txBox="1"/>
          <p:nvPr/>
        </p:nvSpPr>
        <p:spPr>
          <a:xfrm>
            <a:off x="4934102" y="2159813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  <p:sp>
        <p:nvSpPr>
          <p:cNvPr id="82" name="Text 62"/>
          <p:cNvSpPr txBox="1"/>
          <p:nvPr/>
        </p:nvSpPr>
        <p:spPr>
          <a:xfrm>
            <a:off x="5343754" y="2124151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</a:t>
            </a:r>
            <a:endParaRPr lang="en-US" sz="900" dirty="0"/>
          </a:p>
        </p:txBody>
      </p:sp>
      <p:sp>
        <p:nvSpPr>
          <p:cNvPr id="83" name="Text 63"/>
          <p:cNvSpPr txBox="1"/>
          <p:nvPr/>
        </p:nvSpPr>
        <p:spPr>
          <a:xfrm>
            <a:off x="5343754" y="2305202"/>
            <a:ext cx="333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800" dirty="0"/>
          </a:p>
        </p:txBody>
      </p:sp>
      <p:sp>
        <p:nvSpPr>
          <p:cNvPr id="84" name="Shape 64"/>
          <p:cNvSpPr/>
          <p:nvPr/>
        </p:nvSpPr>
        <p:spPr>
          <a:xfrm>
            <a:off x="4819802" y="2681021"/>
            <a:ext cx="3343046" cy="552298"/>
          </a:xfrm>
          <a:prstGeom prst="roundRect">
            <a:avLst>
              <a:gd name="adj" fmla="val 4567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65"/>
          <p:cNvSpPr/>
          <p:nvPr/>
        </p:nvSpPr>
        <p:spPr>
          <a:xfrm>
            <a:off x="4962449" y="2821838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66"/>
          <p:cNvSpPr txBox="1"/>
          <p:nvPr/>
        </p:nvSpPr>
        <p:spPr>
          <a:xfrm>
            <a:off x="4934102" y="2821838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900" dirty="0"/>
          </a:p>
        </p:txBody>
      </p:sp>
      <p:sp>
        <p:nvSpPr>
          <p:cNvPr id="87" name="Text 67"/>
          <p:cNvSpPr txBox="1"/>
          <p:nvPr/>
        </p:nvSpPr>
        <p:spPr>
          <a:xfrm>
            <a:off x="5343754" y="2786177"/>
            <a:ext cx="514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900" dirty="0"/>
          </a:p>
        </p:txBody>
      </p:sp>
      <p:sp>
        <p:nvSpPr>
          <p:cNvPr id="88" name="Text 68"/>
          <p:cNvSpPr txBox="1"/>
          <p:nvPr/>
        </p:nvSpPr>
        <p:spPr>
          <a:xfrm>
            <a:off x="5343754" y="2967228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N/A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14907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3674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Detailed Use Case 05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895198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Correlation &amp; RCA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310774" y="923544"/>
            <a:ext cx="1314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🟡 Partial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1500" y="5434279"/>
            <a:ext cx="3866998" cy="1343254"/>
          </a:xfrm>
          <a:prstGeom prst="roundRect">
            <a:avLst>
              <a:gd name="adj" fmla="val 1158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5434279"/>
            <a:ext cx="38405" cy="1343254"/>
          </a:xfrm>
          <a:prstGeom prst="roundRect">
            <a:avLst>
              <a:gd name="adj" fmla="val 405266"/>
            </a:avLst>
          </a:prstGeom>
          <a:solidFill>
            <a:srgbClr val="EAB308"/>
          </a:solidFill>
          <a:ln w="12700">
            <a:solidFill>
              <a:srgbClr val="EAB3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00100" y="5624474"/>
            <a:ext cx="3562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EAB30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Components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800100" y="5838444"/>
            <a:ext cx="3525012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"Critical Gap: We lack a centralized correlation engine and graph-based RCA model. Currently, the network generates thousands of isolated alarms for single root cause events."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67605" y="1705356"/>
            <a:ext cx="6667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AMDL Lifecycle Mapping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19802" y="1705356"/>
            <a:ext cx="466984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4819802" y="1738274"/>
            <a:ext cx="152705" cy="1335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296351" y="2819095"/>
            <a:ext cx="3323844" cy="609905"/>
          </a:xfrm>
          <a:prstGeom prst="roundRect">
            <a:avLst>
              <a:gd name="adj" fmla="val 37481"/>
            </a:avLst>
          </a:prstGeom>
          <a:solidFill>
            <a:srgbClr val="EAB308">
              <a:alpha val="10000"/>
            </a:srgbClr>
          </a:solidFill>
          <a:ln w="12700">
            <a:solidFill>
              <a:srgbClr val="EAB30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458200" y="2971800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AB30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8429854" y="297180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876995" y="2943454"/>
            <a:ext cx="1400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LOOKUP (Primary)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8876995" y="3148279"/>
            <a:ext cx="1576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events &amp; topology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5057546" y="3666744"/>
            <a:ext cx="6677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Technology Stack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819802" y="3666744"/>
            <a:ext cx="510326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3425" r="-3425"/>
          <a:stretch/>
        </p:blipFill>
        <p:spPr>
          <a:xfrm>
            <a:off x="4819802" y="3700577"/>
            <a:ext cx="142646" cy="13350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819802" y="4019702"/>
            <a:ext cx="3323844" cy="724205"/>
          </a:xfrm>
          <a:prstGeom prst="roundRect">
            <a:avLst>
              <a:gd name="adj" fmla="val 2658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EAB30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81651" y="4200754"/>
            <a:ext cx="152705" cy="1527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248656" y="4181551"/>
            <a:ext cx="27441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Pipeline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248656" y="4419295"/>
            <a:ext cx="31400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Kafka, Elasticsearch for log aggregation.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8296351" y="4019702"/>
            <a:ext cx="3323844" cy="724205"/>
          </a:xfrm>
          <a:prstGeom prst="roundRect">
            <a:avLst>
              <a:gd name="adj" fmla="val 2658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EAB30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4200754"/>
            <a:ext cx="152705" cy="15270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725205" y="4181551"/>
            <a:ext cx="26453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AI/ML Engine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8725205" y="4419295"/>
            <a:ext cx="302666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 ML &amp; Clustering algorithms for grouping.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819802" y="4893869"/>
            <a:ext cx="3323844" cy="724205"/>
          </a:xfrm>
          <a:prstGeom prst="roundRect">
            <a:avLst>
              <a:gd name="adj" fmla="val 2658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EAB30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4981651" y="5074920"/>
            <a:ext cx="171907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266944" y="5055718"/>
            <a:ext cx="23975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Topology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5266944" y="5294376"/>
            <a:ext cx="2743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NetworkX for dependency &amp; path analysis.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8296351" y="4893869"/>
            <a:ext cx="3323844" cy="724205"/>
          </a:xfrm>
          <a:prstGeom prst="roundRect">
            <a:avLst>
              <a:gd name="adj" fmla="val 26582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EAB30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58200" y="5074920"/>
            <a:ext cx="152705" cy="15270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725205" y="5055718"/>
            <a:ext cx="24569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8725205" y="5294376"/>
            <a:ext cx="281178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Kibana / Grafana for single incident reports.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5057546" y="5853989"/>
            <a:ext cx="6677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Business Value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4819802" y="5853989"/>
            <a:ext cx="5329123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 l="-3425" r="-3425"/>
          <a:stretch/>
        </p:blipFill>
        <p:spPr>
          <a:xfrm>
            <a:off x="4819802" y="5886907"/>
            <a:ext cx="142646" cy="133502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4819802" y="6206033"/>
            <a:ext cx="2171700" cy="809244"/>
          </a:xfrm>
          <a:prstGeom prst="roundRect">
            <a:avLst>
              <a:gd name="adj" fmla="val 2127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4"/>
          <p:cNvSpPr txBox="1"/>
          <p:nvPr/>
        </p:nvSpPr>
        <p:spPr>
          <a:xfrm>
            <a:off x="4943246" y="6668719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Noise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7137806" y="6206033"/>
            <a:ext cx="2171700" cy="809244"/>
          </a:xfrm>
          <a:prstGeom prst="roundRect">
            <a:avLst>
              <a:gd name="adj" fmla="val 2127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6"/>
          <p:cNvSpPr txBox="1"/>
          <p:nvPr/>
        </p:nvSpPr>
        <p:spPr>
          <a:xfrm>
            <a:off x="7261250" y="6668719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Resolution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9454896" y="6206033"/>
            <a:ext cx="2171700" cy="809244"/>
          </a:xfrm>
          <a:prstGeom prst="roundRect">
            <a:avLst>
              <a:gd name="adj" fmla="val 2127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8"/>
          <p:cNvSpPr txBox="1"/>
          <p:nvPr/>
        </p:nvSpPr>
        <p:spPr>
          <a:xfrm>
            <a:off x="9579254" y="6668719"/>
            <a:ext cx="1924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Reports</a:t>
            </a:r>
            <a:endParaRPr lang="en-US" sz="9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rcRect l="-1282" r="-1282"/>
          <a:stretch/>
        </p:blipFill>
        <p:spPr>
          <a:xfrm>
            <a:off x="5792724" y="6368796"/>
            <a:ext cx="219456" cy="190195"/>
          </a:xfrm>
          <a:prstGeom prst="rect">
            <a:avLst/>
          </a:prstGeom>
        </p:spPr>
      </p:pic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8134502" y="6368796"/>
            <a:ext cx="171907" cy="190195"/>
          </a:xfrm>
          <a:prstGeom prst="rect">
            <a:avLst/>
          </a:prstGeom>
        </p:spPr>
      </p:pic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466222" y="6368796"/>
            <a:ext cx="142646" cy="190195"/>
          </a:xfrm>
          <a:prstGeom prst="rect">
            <a:avLst/>
          </a:prstGeom>
        </p:spPr>
      </p:pic>
      <p:sp>
        <p:nvSpPr>
          <p:cNvPr id="52" name="Shape 39"/>
          <p:cNvSpPr/>
          <p:nvPr/>
        </p:nvSpPr>
        <p:spPr>
          <a:xfrm>
            <a:off x="571500" y="1705356"/>
            <a:ext cx="3866998" cy="3448202"/>
          </a:xfrm>
          <a:prstGeom prst="roundRect">
            <a:avLst>
              <a:gd name="adj" fmla="val 23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0"/>
          <p:cNvSpPr/>
          <p:nvPr/>
        </p:nvSpPr>
        <p:spPr>
          <a:xfrm>
            <a:off x="571500" y="1705356"/>
            <a:ext cx="38405" cy="3424428"/>
          </a:xfrm>
          <a:prstGeom prst="rect">
            <a:avLst/>
          </a:prstGeom>
          <a:solidFill>
            <a:srgbClr val="EAB3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1"/>
          <p:cNvSpPr/>
          <p:nvPr/>
        </p:nvSpPr>
        <p:spPr>
          <a:xfrm>
            <a:off x="866851" y="2000707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EAB30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14"/>
          <a:srcRect l="-50" r="-50"/>
          <a:stretch/>
        </p:blipFill>
        <p:spPr>
          <a:xfrm>
            <a:off x="1000354" y="2152498"/>
            <a:ext cx="342900" cy="304495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866851" y="2838298"/>
            <a:ext cx="342168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Incident Correlation</a:t>
            </a:r>
            <a:endParaRPr lang="en-US" sz="2100" dirty="0"/>
          </a:p>
        </p:txBody>
      </p:sp>
      <p:sp>
        <p:nvSpPr>
          <p:cNvPr id="57" name="Text 43"/>
          <p:cNvSpPr txBox="1"/>
          <p:nvPr/>
        </p:nvSpPr>
        <p:spPr>
          <a:xfrm>
            <a:off x="866851" y="3353105"/>
            <a:ext cx="33531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operational noise and accelerate incident resolution by aggregating related alarms and identifying root causes via topology analysis.</a:t>
            </a:r>
            <a:endParaRPr lang="en-US" sz="1100" dirty="0"/>
          </a:p>
        </p:txBody>
      </p:sp>
      <p:sp>
        <p:nvSpPr>
          <p:cNvPr id="58" name="Shape 44"/>
          <p:cNvSpPr/>
          <p:nvPr/>
        </p:nvSpPr>
        <p:spPr>
          <a:xfrm>
            <a:off x="866851" y="4496105"/>
            <a:ext cx="1809598" cy="362102"/>
          </a:xfrm>
          <a:prstGeom prst="roundRect">
            <a:avLst>
              <a:gd name="adj" fmla="val 252526"/>
            </a:avLst>
          </a:prstGeom>
          <a:solidFill>
            <a:srgbClr val="EAB308">
              <a:alpha val="15000"/>
            </a:srgbClr>
          </a:solidFill>
          <a:ln w="12700">
            <a:solidFill>
              <a:srgbClr val="EAB30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45"/>
          <p:cNvSpPr/>
          <p:nvPr/>
        </p:nvSpPr>
        <p:spPr>
          <a:xfrm>
            <a:off x="1228954" y="4496105"/>
            <a:ext cx="1520647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EF0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Partial Capability </a:t>
            </a:r>
            <a:endParaRPr lang="en-US" sz="900" dirty="0"/>
          </a:p>
        </p:txBody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28700" y="4612234"/>
            <a:ext cx="123444" cy="123444"/>
          </a:xfrm>
          <a:prstGeom prst="rect">
            <a:avLst/>
          </a:prstGeom>
        </p:spPr>
      </p:pic>
      <p:sp>
        <p:nvSpPr>
          <p:cNvPr id="61" name="Shape 46"/>
          <p:cNvSpPr/>
          <p:nvPr/>
        </p:nvSpPr>
        <p:spPr>
          <a:xfrm>
            <a:off x="4819802" y="2057400"/>
            <a:ext cx="3323844" cy="609905"/>
          </a:xfrm>
          <a:prstGeom prst="roundRect">
            <a:avLst>
              <a:gd name="adj" fmla="val 37481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47"/>
          <p:cNvSpPr/>
          <p:nvPr/>
        </p:nvSpPr>
        <p:spPr>
          <a:xfrm>
            <a:off x="4981651" y="221010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48"/>
          <p:cNvSpPr txBox="1"/>
          <p:nvPr/>
        </p:nvSpPr>
        <p:spPr>
          <a:xfrm>
            <a:off x="4953305" y="2210105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000" dirty="0"/>
          </a:p>
        </p:txBody>
      </p:sp>
      <p:sp>
        <p:nvSpPr>
          <p:cNvPr id="64" name="Text 49"/>
          <p:cNvSpPr txBox="1"/>
          <p:nvPr/>
        </p:nvSpPr>
        <p:spPr>
          <a:xfrm>
            <a:off x="5400446" y="2180844"/>
            <a:ext cx="12097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</a:t>
            </a:r>
            <a:endParaRPr lang="en-US" sz="900" dirty="0"/>
          </a:p>
        </p:txBody>
      </p:sp>
      <p:sp>
        <p:nvSpPr>
          <p:cNvPr id="65" name="Text 50"/>
          <p:cNvSpPr txBox="1"/>
          <p:nvPr/>
        </p:nvSpPr>
        <p:spPr>
          <a:xfrm>
            <a:off x="5400446" y="2385670"/>
            <a:ext cx="1349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 logs &amp; alarms</a:t>
            </a:r>
            <a:endParaRPr lang="en-US" sz="800" dirty="0"/>
          </a:p>
        </p:txBody>
      </p:sp>
      <p:sp>
        <p:nvSpPr>
          <p:cNvPr id="66" name="Shape 51"/>
          <p:cNvSpPr/>
          <p:nvPr/>
        </p:nvSpPr>
        <p:spPr>
          <a:xfrm>
            <a:off x="8296351" y="2057400"/>
            <a:ext cx="3323844" cy="609905"/>
          </a:xfrm>
          <a:prstGeom prst="roundRect">
            <a:avLst>
              <a:gd name="adj" fmla="val 37481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52"/>
          <p:cNvSpPr/>
          <p:nvPr/>
        </p:nvSpPr>
        <p:spPr>
          <a:xfrm>
            <a:off x="8458200" y="221010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53"/>
          <p:cNvSpPr txBox="1"/>
          <p:nvPr/>
        </p:nvSpPr>
        <p:spPr>
          <a:xfrm>
            <a:off x="8429854" y="2210105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1000" dirty="0"/>
          </a:p>
        </p:txBody>
      </p:sp>
      <p:sp>
        <p:nvSpPr>
          <p:cNvPr id="69" name="Text 54"/>
          <p:cNvSpPr txBox="1"/>
          <p:nvPr/>
        </p:nvSpPr>
        <p:spPr>
          <a:xfrm>
            <a:off x="8876995" y="2180844"/>
            <a:ext cx="11914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</a:t>
            </a:r>
            <a:endParaRPr lang="en-US" sz="900" dirty="0"/>
          </a:p>
        </p:txBody>
      </p:sp>
      <p:sp>
        <p:nvSpPr>
          <p:cNvPr id="70" name="Text 55"/>
          <p:cNvSpPr txBox="1"/>
          <p:nvPr/>
        </p:nvSpPr>
        <p:spPr>
          <a:xfrm>
            <a:off x="8876995" y="2385670"/>
            <a:ext cx="132679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 alert thresholds</a:t>
            </a:r>
            <a:endParaRPr lang="en-US" sz="800" dirty="0"/>
          </a:p>
        </p:txBody>
      </p:sp>
      <p:sp>
        <p:nvSpPr>
          <p:cNvPr id="71" name="Shape 56"/>
          <p:cNvSpPr/>
          <p:nvPr/>
        </p:nvSpPr>
        <p:spPr>
          <a:xfrm>
            <a:off x="4819802" y="2819095"/>
            <a:ext cx="3323844" cy="609905"/>
          </a:xfrm>
          <a:prstGeom prst="roundRect">
            <a:avLst>
              <a:gd name="adj" fmla="val 37481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57"/>
          <p:cNvSpPr/>
          <p:nvPr/>
        </p:nvSpPr>
        <p:spPr>
          <a:xfrm>
            <a:off x="4981651" y="2971800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58"/>
          <p:cNvSpPr txBox="1"/>
          <p:nvPr/>
        </p:nvSpPr>
        <p:spPr>
          <a:xfrm>
            <a:off x="4953305" y="297180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000" dirty="0"/>
          </a:p>
        </p:txBody>
      </p:sp>
      <p:sp>
        <p:nvSpPr>
          <p:cNvPr id="74" name="Text 59"/>
          <p:cNvSpPr txBox="1"/>
          <p:nvPr/>
        </p:nvSpPr>
        <p:spPr>
          <a:xfrm>
            <a:off x="5400446" y="2943454"/>
            <a:ext cx="1390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900" dirty="0"/>
          </a:p>
        </p:txBody>
      </p:sp>
      <p:sp>
        <p:nvSpPr>
          <p:cNvPr id="75" name="Text 60"/>
          <p:cNvSpPr txBox="1"/>
          <p:nvPr/>
        </p:nvSpPr>
        <p:spPr>
          <a:xfrm>
            <a:off x="5400446" y="3148279"/>
            <a:ext cx="15645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Suppress duplicate alarms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361117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21173"/>
            <a:ext cx="3242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Detail Use Case 06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446826"/>
            <a:ext cx="2833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Knowledge Assistant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385755" y="429485"/>
            <a:ext cx="12362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Priority: Medium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8381" y="4651727"/>
            <a:ext cx="3866998" cy="1962302"/>
          </a:xfrm>
          <a:prstGeom prst="roundRect">
            <a:avLst>
              <a:gd name="adj" fmla="val 5429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52297" y="4631365"/>
            <a:ext cx="38405" cy="1962302"/>
          </a:xfrm>
          <a:prstGeom prst="roundRect">
            <a:avLst>
              <a:gd name="adj" fmla="val 27739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00100" y="5071192"/>
            <a:ext cx="3562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Engineer Queries</a:t>
            </a:r>
            <a:endParaRPr lang="en-US" sz="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800100" y="5323566"/>
            <a:ext cx="3448202" cy="363931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5418664"/>
            <a:ext cx="105156" cy="1051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4654" y="5418664"/>
            <a:ext cx="33211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services currently depend on VLAN 29?"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800100" y="5763392"/>
            <a:ext cx="3448202" cy="363931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5858490"/>
            <a:ext cx="105156" cy="1051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14654" y="5858490"/>
            <a:ext cx="227868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happens if router X fails?"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800100" y="6203219"/>
            <a:ext cx="3448202" cy="363931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6298316"/>
            <a:ext cx="105156" cy="105156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114654" y="6298316"/>
            <a:ext cx="349940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"Show me the peering config for neighbor 10.1.1.2"</a:t>
            </a:r>
            <a:endParaRPr lang="en-US" sz="900" dirty="0"/>
          </a:p>
        </p:txBody>
      </p:sp>
      <p:sp>
        <p:nvSpPr>
          <p:cNvPr id="21" name="Text 12"/>
          <p:cNvSpPr txBox="1"/>
          <p:nvPr/>
        </p:nvSpPr>
        <p:spPr>
          <a:xfrm>
            <a:off x="5067605" y="751566"/>
            <a:ext cx="6667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AMDL Lifecycle Mapping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4819802" y="751566"/>
            <a:ext cx="4669841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4819802" y="784484"/>
            <a:ext cx="152705" cy="13350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4819802" y="1065205"/>
            <a:ext cx="3343046" cy="562356"/>
          </a:xfrm>
          <a:prstGeom prst="roundRect">
            <a:avLst>
              <a:gd name="adj" fmla="val 44095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5"/>
          <p:cNvSpPr/>
          <p:nvPr/>
        </p:nvSpPr>
        <p:spPr>
          <a:xfrm>
            <a:off x="4962449" y="1213338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6"/>
          <p:cNvSpPr txBox="1"/>
          <p:nvPr/>
        </p:nvSpPr>
        <p:spPr>
          <a:xfrm>
            <a:off x="4934102" y="1213338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  <p:sp>
        <p:nvSpPr>
          <p:cNvPr id="27" name="Text 17"/>
          <p:cNvSpPr txBox="1"/>
          <p:nvPr/>
        </p:nvSpPr>
        <p:spPr>
          <a:xfrm>
            <a:off x="5343754" y="1170361"/>
            <a:ext cx="1696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</a:t>
            </a:r>
            <a:endParaRPr lang="en-US" sz="900" dirty="0"/>
          </a:p>
        </p:txBody>
      </p:sp>
      <p:sp>
        <p:nvSpPr>
          <p:cNvPr id="28" name="Text 18"/>
          <p:cNvSpPr txBox="1"/>
          <p:nvPr/>
        </p:nvSpPr>
        <p:spPr>
          <a:xfrm>
            <a:off x="5343754" y="1365128"/>
            <a:ext cx="192755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 new documentation &amp; logs</a:t>
            </a:r>
            <a:endParaRPr lang="en-US" sz="800" dirty="0"/>
          </a:p>
        </p:txBody>
      </p:sp>
      <p:sp>
        <p:nvSpPr>
          <p:cNvPr id="29" name="Shape 19"/>
          <p:cNvSpPr/>
          <p:nvPr/>
        </p:nvSpPr>
        <p:spPr>
          <a:xfrm>
            <a:off x="8277149" y="1065205"/>
            <a:ext cx="3343046" cy="562356"/>
          </a:xfrm>
          <a:prstGeom prst="roundRect">
            <a:avLst>
              <a:gd name="adj" fmla="val 44095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0"/>
          <p:cNvSpPr/>
          <p:nvPr/>
        </p:nvSpPr>
        <p:spPr>
          <a:xfrm>
            <a:off x="8419795" y="1213338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1"/>
          <p:cNvSpPr txBox="1"/>
          <p:nvPr/>
        </p:nvSpPr>
        <p:spPr>
          <a:xfrm>
            <a:off x="8391449" y="1213338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8801100" y="1170361"/>
            <a:ext cx="1724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8801100" y="1365128"/>
            <a:ext cx="19613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&amp; retrain knowledge base</a:t>
            </a:r>
            <a:endParaRPr lang="en-US" sz="800" dirty="0"/>
          </a:p>
        </p:txBody>
      </p:sp>
      <p:sp>
        <p:nvSpPr>
          <p:cNvPr id="34" name="Shape 24"/>
          <p:cNvSpPr/>
          <p:nvPr/>
        </p:nvSpPr>
        <p:spPr>
          <a:xfrm>
            <a:off x="4819802" y="1741861"/>
            <a:ext cx="3343046" cy="562356"/>
          </a:xfrm>
          <a:prstGeom prst="roundRect">
            <a:avLst>
              <a:gd name="adj" fmla="val 44095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5"/>
          <p:cNvSpPr txBox="1"/>
          <p:nvPr/>
        </p:nvSpPr>
        <p:spPr>
          <a:xfrm>
            <a:off x="5343754" y="1847017"/>
            <a:ext cx="15151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5343754" y="2041784"/>
            <a:ext cx="1629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outdated knowledge</a:t>
            </a:r>
            <a:endParaRPr lang="en-US" sz="800" dirty="0"/>
          </a:p>
        </p:txBody>
      </p:sp>
      <p:sp>
        <p:nvSpPr>
          <p:cNvPr id="37" name="Shape 27"/>
          <p:cNvSpPr/>
          <p:nvPr/>
        </p:nvSpPr>
        <p:spPr>
          <a:xfrm>
            <a:off x="8277149" y="1741861"/>
            <a:ext cx="3343046" cy="562356"/>
          </a:xfrm>
          <a:prstGeom prst="roundRect">
            <a:avLst>
              <a:gd name="adj" fmla="val 44095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8419795" y="1889080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 txBox="1"/>
          <p:nvPr/>
        </p:nvSpPr>
        <p:spPr>
          <a:xfrm>
            <a:off x="8391449" y="1889080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8801100" y="1847017"/>
            <a:ext cx="1819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LOOKUP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8801100" y="2041784"/>
            <a:ext cx="20747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topology, configs &amp; services</a:t>
            </a:r>
            <a:endParaRPr lang="en-US" sz="800" dirty="0"/>
          </a:p>
        </p:txBody>
      </p:sp>
      <p:sp>
        <p:nvSpPr>
          <p:cNvPr id="42" name="Text 32"/>
          <p:cNvSpPr txBox="1"/>
          <p:nvPr/>
        </p:nvSpPr>
        <p:spPr>
          <a:xfrm>
            <a:off x="5057546" y="2532817"/>
            <a:ext cx="6677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Implementation Approach &amp; Tools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4819802" y="2532817"/>
            <a:ext cx="391729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7"/>
          <a:srcRect l="-3425" r="-3425"/>
          <a:stretch/>
        </p:blipFill>
        <p:spPr>
          <a:xfrm>
            <a:off x="4819802" y="2565736"/>
            <a:ext cx="142646" cy="133502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4819802" y="2846456"/>
            <a:ext cx="3343046" cy="638251"/>
          </a:xfrm>
          <a:prstGeom prst="roundRect">
            <a:avLst>
              <a:gd name="adj" fmla="val 3421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962449" y="3008305"/>
            <a:ext cx="152705" cy="152705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5229454" y="2990017"/>
            <a:ext cx="1962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Core</a:t>
            </a:r>
            <a:endParaRPr lang="en-US" sz="900" dirty="0"/>
          </a:p>
        </p:txBody>
      </p:sp>
      <p:sp>
        <p:nvSpPr>
          <p:cNvPr id="48" name="Text 36"/>
          <p:cNvSpPr txBox="1"/>
          <p:nvPr/>
        </p:nvSpPr>
        <p:spPr>
          <a:xfrm>
            <a:off x="5229454" y="3193928"/>
            <a:ext cx="22448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GPT, LangChain for reasoning</a:t>
            </a:r>
            <a:endParaRPr lang="en-US" sz="800" dirty="0"/>
          </a:p>
        </p:txBody>
      </p:sp>
      <p:sp>
        <p:nvSpPr>
          <p:cNvPr id="49" name="Shape 37"/>
          <p:cNvSpPr/>
          <p:nvPr/>
        </p:nvSpPr>
        <p:spPr>
          <a:xfrm>
            <a:off x="8277149" y="2846456"/>
            <a:ext cx="3343046" cy="638251"/>
          </a:xfrm>
          <a:prstGeom prst="roundRect">
            <a:avLst>
              <a:gd name="adj" fmla="val 3421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8419795" y="3008305"/>
            <a:ext cx="171907" cy="152705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8706002" y="2990017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DB</a:t>
            </a:r>
            <a:endParaRPr lang="en-US" sz="900" dirty="0"/>
          </a:p>
        </p:txBody>
      </p:sp>
      <p:sp>
        <p:nvSpPr>
          <p:cNvPr id="52" name="Text 39"/>
          <p:cNvSpPr txBox="1"/>
          <p:nvPr/>
        </p:nvSpPr>
        <p:spPr>
          <a:xfrm>
            <a:off x="8706002" y="3193928"/>
            <a:ext cx="20519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FAISS or Pinecone for embeddings</a:t>
            </a:r>
            <a:endParaRPr lang="en-US" sz="800" dirty="0"/>
          </a:p>
        </p:txBody>
      </p:sp>
      <p:sp>
        <p:nvSpPr>
          <p:cNvPr id="53" name="Shape 40"/>
          <p:cNvSpPr/>
          <p:nvPr/>
        </p:nvSpPr>
        <p:spPr>
          <a:xfrm>
            <a:off x="4819802" y="3598093"/>
            <a:ext cx="3343046" cy="638251"/>
          </a:xfrm>
          <a:prstGeom prst="roundRect">
            <a:avLst>
              <a:gd name="adj" fmla="val 3421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4962449" y="3759942"/>
            <a:ext cx="171907" cy="152705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5248656" y="3740740"/>
            <a:ext cx="1467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Source</a:t>
            </a:r>
            <a:endParaRPr lang="en-US" sz="900" dirty="0"/>
          </a:p>
        </p:txBody>
      </p:sp>
      <p:sp>
        <p:nvSpPr>
          <p:cNvPr id="56" name="Text 42"/>
          <p:cNvSpPr txBox="1"/>
          <p:nvPr/>
        </p:nvSpPr>
        <p:spPr>
          <a:xfrm>
            <a:off x="5248656" y="3945565"/>
            <a:ext cx="16550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Confluence API, Git, NetBox</a:t>
            </a:r>
            <a:endParaRPr lang="en-US" sz="800" dirty="0"/>
          </a:p>
        </p:txBody>
      </p:sp>
      <p:sp>
        <p:nvSpPr>
          <p:cNvPr id="57" name="Shape 43"/>
          <p:cNvSpPr/>
          <p:nvPr/>
        </p:nvSpPr>
        <p:spPr>
          <a:xfrm>
            <a:off x="8277149" y="3598093"/>
            <a:ext cx="3343046" cy="638251"/>
          </a:xfrm>
          <a:prstGeom prst="roundRect">
            <a:avLst>
              <a:gd name="adj" fmla="val 3421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419795" y="3759942"/>
            <a:ext cx="152705" cy="152705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8686800" y="3740740"/>
            <a:ext cx="1677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Engine</a:t>
            </a:r>
            <a:endParaRPr lang="en-US" sz="900" dirty="0"/>
          </a:p>
        </p:txBody>
      </p:sp>
      <p:sp>
        <p:nvSpPr>
          <p:cNvPr id="60" name="Text 45"/>
          <p:cNvSpPr txBox="1"/>
          <p:nvPr/>
        </p:nvSpPr>
        <p:spPr>
          <a:xfrm>
            <a:off x="8686800" y="3945565"/>
            <a:ext cx="19046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Elasticsearch for hybrid retrieval</a:t>
            </a:r>
            <a:endParaRPr lang="en-US" sz="800" dirty="0"/>
          </a:p>
        </p:txBody>
      </p:sp>
      <p:sp>
        <p:nvSpPr>
          <p:cNvPr id="61" name="Text 46"/>
          <p:cNvSpPr txBox="1"/>
          <p:nvPr/>
        </p:nvSpPr>
        <p:spPr>
          <a:xfrm>
            <a:off x="5039258" y="4464030"/>
            <a:ext cx="66961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Data &amp; Gap Analysis</a:t>
            </a:r>
            <a:endParaRPr lang="en-US" sz="1000" dirty="0"/>
          </a:p>
        </p:txBody>
      </p:sp>
      <p:sp>
        <p:nvSpPr>
          <p:cNvPr id="62" name="Shape 47"/>
          <p:cNvSpPr/>
          <p:nvPr/>
        </p:nvSpPr>
        <p:spPr>
          <a:xfrm>
            <a:off x="4819802" y="4464030"/>
            <a:ext cx="502645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12"/>
          <a:srcRect l="-2838" r="-2838"/>
          <a:stretch/>
        </p:blipFill>
        <p:spPr>
          <a:xfrm>
            <a:off x="4819802" y="4497863"/>
            <a:ext cx="123444" cy="133502"/>
          </a:xfrm>
          <a:prstGeom prst="rect">
            <a:avLst/>
          </a:prstGeom>
        </p:spPr>
      </p:pic>
      <p:sp>
        <p:nvSpPr>
          <p:cNvPr id="64" name="Shape 48"/>
          <p:cNvSpPr/>
          <p:nvPr/>
        </p:nvSpPr>
        <p:spPr>
          <a:xfrm>
            <a:off x="4819802" y="4778584"/>
            <a:ext cx="3323844" cy="1561795"/>
          </a:xfrm>
          <a:prstGeom prst="roundRect">
            <a:avLst>
              <a:gd name="adj" fmla="val 5712"/>
            </a:avLst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49"/>
          <p:cNvSpPr/>
          <p:nvPr/>
        </p:nvSpPr>
        <p:spPr>
          <a:xfrm>
            <a:off x="4819802" y="4778584"/>
            <a:ext cx="3323844" cy="19202"/>
          </a:xfrm>
          <a:prstGeom prst="roundRect">
            <a:avLst>
              <a:gd name="adj" fmla="val 464586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0"/>
          <p:cNvSpPr txBox="1"/>
          <p:nvPr/>
        </p:nvSpPr>
        <p:spPr>
          <a:xfrm>
            <a:off x="4972507" y="4949576"/>
            <a:ext cx="31345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67" name="Shape 51"/>
          <p:cNvSpPr/>
          <p:nvPr/>
        </p:nvSpPr>
        <p:spPr>
          <a:xfrm>
            <a:off x="8296351" y="4778584"/>
            <a:ext cx="3323844" cy="1561795"/>
          </a:xfrm>
          <a:prstGeom prst="roundRect">
            <a:avLst>
              <a:gd name="adj" fmla="val 5712"/>
            </a:avLst>
          </a:prstGeom>
          <a:solidFill>
            <a:srgbClr val="F59E0B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52"/>
          <p:cNvSpPr/>
          <p:nvPr/>
        </p:nvSpPr>
        <p:spPr>
          <a:xfrm>
            <a:off x="8296351" y="4778584"/>
            <a:ext cx="3323844" cy="19202"/>
          </a:xfrm>
          <a:prstGeom prst="roundRect">
            <a:avLst>
              <a:gd name="adj" fmla="val 464586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3"/>
          <p:cNvSpPr txBox="1"/>
          <p:nvPr/>
        </p:nvSpPr>
        <p:spPr>
          <a:xfrm>
            <a:off x="8449056" y="4949576"/>
            <a:ext cx="31345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Components</a:t>
            </a:r>
            <a:endParaRPr lang="en-US" sz="900" dirty="0"/>
          </a:p>
        </p:txBody>
      </p:sp>
      <p:sp>
        <p:nvSpPr>
          <p:cNvPr id="70" name="Shape 54"/>
          <p:cNvSpPr/>
          <p:nvPr/>
        </p:nvSpPr>
        <p:spPr>
          <a:xfrm>
            <a:off x="571500" y="751566"/>
            <a:ext cx="3866998" cy="3847795"/>
          </a:xfrm>
          <a:prstGeom prst="roundRect">
            <a:avLst>
              <a:gd name="adj" fmla="val 188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55"/>
          <p:cNvSpPr/>
          <p:nvPr/>
        </p:nvSpPr>
        <p:spPr>
          <a:xfrm>
            <a:off x="571500" y="751566"/>
            <a:ext cx="38405" cy="3824021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56"/>
          <p:cNvSpPr/>
          <p:nvPr/>
        </p:nvSpPr>
        <p:spPr>
          <a:xfrm>
            <a:off x="866851" y="1046917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14" descr="preencoded.png"/>
          <p:cNvPicPr>
            <a:picLocks noChangeAspect="1"/>
          </p:cNvPicPr>
          <p:nvPr/>
        </p:nvPicPr>
        <p:blipFill>
          <a:blip r:embed="rId13"/>
          <a:srcRect l="-90" r="-90"/>
          <a:stretch/>
        </p:blipFill>
        <p:spPr>
          <a:xfrm>
            <a:off x="981151" y="1198708"/>
            <a:ext cx="381305" cy="304495"/>
          </a:xfrm>
          <a:prstGeom prst="rect">
            <a:avLst/>
          </a:prstGeom>
        </p:spPr>
      </p:pic>
      <p:sp>
        <p:nvSpPr>
          <p:cNvPr id="74" name="Text 57"/>
          <p:cNvSpPr txBox="1"/>
          <p:nvPr/>
        </p:nvSpPr>
        <p:spPr>
          <a:xfrm>
            <a:off x="866851" y="1884508"/>
            <a:ext cx="337687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 Knowledge Assistant</a:t>
            </a:r>
            <a:endParaRPr lang="en-US" sz="2100" dirty="0"/>
          </a:p>
        </p:txBody>
      </p:sp>
      <p:sp>
        <p:nvSpPr>
          <p:cNvPr id="75" name="Text 58"/>
          <p:cNvSpPr txBox="1"/>
          <p:nvPr/>
        </p:nvSpPr>
        <p:spPr>
          <a:xfrm>
            <a:off x="866851" y="2798908"/>
            <a:ext cx="33531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engineers with a conversational interface for querying network documentation, topology state, and configs using natural language.</a:t>
            </a:r>
            <a:endParaRPr lang="en-US" sz="1100" dirty="0"/>
          </a:p>
        </p:txBody>
      </p:sp>
      <p:sp>
        <p:nvSpPr>
          <p:cNvPr id="76" name="Shape 59"/>
          <p:cNvSpPr/>
          <p:nvPr/>
        </p:nvSpPr>
        <p:spPr>
          <a:xfrm>
            <a:off x="866851" y="3941908"/>
            <a:ext cx="1600200" cy="362102"/>
          </a:xfrm>
          <a:prstGeom prst="roundRect">
            <a:avLst>
              <a:gd name="adj" fmla="val 252526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60"/>
          <p:cNvSpPr/>
          <p:nvPr/>
        </p:nvSpPr>
        <p:spPr>
          <a:xfrm>
            <a:off x="1228954" y="3941908"/>
            <a:ext cx="1302106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Status: Partial </a:t>
            </a:r>
            <a:endParaRPr lang="en-US" sz="900" dirty="0"/>
          </a:p>
        </p:txBody>
      </p:sp>
      <p:pic>
        <p:nvPicPr>
          <p:cNvPr id="78" name="Image 15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28700" y="4058951"/>
            <a:ext cx="123444" cy="123444"/>
          </a:xfrm>
          <a:prstGeom prst="rect">
            <a:avLst/>
          </a:prstGeom>
        </p:spPr>
      </p:pic>
      <p:sp>
        <p:nvSpPr>
          <p:cNvPr id="79" name="Shape 61"/>
          <p:cNvSpPr/>
          <p:nvPr/>
        </p:nvSpPr>
        <p:spPr>
          <a:xfrm>
            <a:off x="4962449" y="1889080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62"/>
          <p:cNvSpPr txBox="1"/>
          <p:nvPr/>
        </p:nvSpPr>
        <p:spPr>
          <a:xfrm>
            <a:off x="4934102" y="1889080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900" dirty="0"/>
          </a:p>
        </p:txBody>
      </p:sp>
      <p:sp>
        <p:nvSpPr>
          <p:cNvPr id="81" name="Text 63"/>
          <p:cNvSpPr txBox="1"/>
          <p:nvPr/>
        </p:nvSpPr>
        <p:spPr>
          <a:xfrm>
            <a:off x="4972507" y="5197379"/>
            <a:ext cx="3134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Documentation</a:t>
            </a:r>
            <a:endParaRPr lang="en-US" sz="900" dirty="0"/>
          </a:p>
        </p:txBody>
      </p:sp>
      <p:sp>
        <p:nvSpPr>
          <p:cNvPr id="82" name="Text 64"/>
          <p:cNvSpPr txBox="1"/>
          <p:nvPr/>
        </p:nvSpPr>
        <p:spPr>
          <a:xfrm>
            <a:off x="4972507" y="5395804"/>
            <a:ext cx="3134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Diagrams</a:t>
            </a:r>
            <a:endParaRPr lang="en-US" sz="900" dirty="0"/>
          </a:p>
        </p:txBody>
      </p:sp>
      <p:sp>
        <p:nvSpPr>
          <p:cNvPr id="83" name="Text 65"/>
          <p:cNvSpPr txBox="1"/>
          <p:nvPr/>
        </p:nvSpPr>
        <p:spPr>
          <a:xfrm>
            <a:off x="4972507" y="5593314"/>
            <a:ext cx="3134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Repositories</a:t>
            </a:r>
            <a:endParaRPr lang="en-US" sz="900" dirty="0"/>
          </a:p>
        </p:txBody>
      </p:sp>
      <p:sp>
        <p:nvSpPr>
          <p:cNvPr id="84" name="Text 66"/>
          <p:cNvSpPr txBox="1"/>
          <p:nvPr/>
        </p:nvSpPr>
        <p:spPr>
          <a:xfrm>
            <a:off x="4972507" y="5791739"/>
            <a:ext cx="3134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Runbooks</a:t>
            </a:r>
            <a:endParaRPr lang="en-US" sz="900" dirty="0"/>
          </a:p>
        </p:txBody>
      </p:sp>
      <p:sp>
        <p:nvSpPr>
          <p:cNvPr id="85" name="Text 67"/>
          <p:cNvSpPr txBox="1"/>
          <p:nvPr/>
        </p:nvSpPr>
        <p:spPr>
          <a:xfrm>
            <a:off x="4972507" y="5990164"/>
            <a:ext cx="3134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Topology Databases</a:t>
            </a:r>
            <a:endParaRPr lang="en-US" sz="900" dirty="0"/>
          </a:p>
        </p:txBody>
      </p:sp>
      <p:sp>
        <p:nvSpPr>
          <p:cNvPr id="86" name="Text 68"/>
          <p:cNvSpPr txBox="1"/>
          <p:nvPr/>
        </p:nvSpPr>
        <p:spPr>
          <a:xfrm>
            <a:off x="8449056" y="5197379"/>
            <a:ext cx="3134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Integration Layer</a:t>
            </a:r>
            <a:endParaRPr lang="en-US" sz="900" dirty="0"/>
          </a:p>
        </p:txBody>
      </p:sp>
      <p:sp>
        <p:nvSpPr>
          <p:cNvPr id="87" name="Text 69"/>
          <p:cNvSpPr txBox="1"/>
          <p:nvPr/>
        </p:nvSpPr>
        <p:spPr>
          <a:xfrm>
            <a:off x="8449056" y="5395804"/>
            <a:ext cx="3134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Knowledge Base</a:t>
            </a:r>
            <a:endParaRPr lang="en-US" sz="900" dirty="0"/>
          </a:p>
        </p:txBody>
      </p:sp>
      <p:sp>
        <p:nvSpPr>
          <p:cNvPr id="88" name="Text 70"/>
          <p:cNvSpPr txBox="1"/>
          <p:nvPr/>
        </p:nvSpPr>
        <p:spPr>
          <a:xfrm>
            <a:off x="8449056" y="5593314"/>
            <a:ext cx="3134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Retrieval Pipeline</a:t>
            </a:r>
            <a:endParaRPr lang="en-US" sz="900" dirty="0"/>
          </a:p>
        </p:txBody>
      </p:sp>
      <p:sp>
        <p:nvSpPr>
          <p:cNvPr id="89" name="Text 71"/>
          <p:cNvSpPr txBox="1"/>
          <p:nvPr/>
        </p:nvSpPr>
        <p:spPr>
          <a:xfrm>
            <a:off x="8449056" y="5791739"/>
            <a:ext cx="3134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Security/Privacy Guardrails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48563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9144"/>
            <a:ext cx="5553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Comprehensive Tool Architecture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523951"/>
            <a:ext cx="4981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 Mapping for AI Network Intelligence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481767" y="552298"/>
            <a:ext cx="11448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Stack View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762695" y="1047902"/>
            <a:ext cx="3047695" cy="5619902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762695" y="1047902"/>
            <a:ext cx="9144" cy="561990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962949" y="1533449"/>
            <a:ext cx="26572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962949" y="1238098"/>
            <a:ext cx="2734056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Case Tool Mapping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962949" y="1790395"/>
            <a:ext cx="276423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Anomaly Detection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25200" b="-25200"/>
          <a:stretch/>
        </p:blipFill>
        <p:spPr>
          <a:xfrm>
            <a:off x="11505895" y="1790395"/>
            <a:ext cx="114300" cy="17190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962949" y="2000707"/>
            <a:ext cx="2657246" cy="533095"/>
          </a:xfrm>
          <a:prstGeom prst="roundRect">
            <a:avLst>
              <a:gd name="adj" fmla="val 24504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8962949" y="2000707"/>
            <a:ext cx="2734056" cy="5340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Model: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Isolation Forest / Autoencoder (Scikit-learn/PyTorch)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Data: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Kafka Stream → Spark Processing 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8962949" y="2800807"/>
            <a:ext cx="276423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Capacity Prediction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t="-25200" b="-25200"/>
          <a:stretch/>
        </p:blipFill>
        <p:spPr>
          <a:xfrm>
            <a:off x="11505895" y="2800807"/>
            <a:ext cx="114300" cy="171907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962949" y="3010205"/>
            <a:ext cx="2657246" cy="400507"/>
          </a:xfrm>
          <a:prstGeom prst="roundRect">
            <a:avLst>
              <a:gd name="adj" fmla="val 43488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8962949" y="3010205"/>
            <a:ext cx="2734056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Model: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ARIMA / LSTM / Prophet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Storage: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InfluxDB (Time Series) 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8962949" y="3676802"/>
            <a:ext cx="276423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Blast Radius</a:t>
            </a:r>
            <a:endParaRPr lang="en-US" sz="9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 t="-25200" b="-25200"/>
          <a:stretch/>
        </p:blipFill>
        <p:spPr>
          <a:xfrm>
            <a:off x="11505895" y="3676802"/>
            <a:ext cx="114300" cy="171907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962949" y="3886200"/>
            <a:ext cx="2657246" cy="400507"/>
          </a:xfrm>
          <a:prstGeom prst="roundRect">
            <a:avLst>
              <a:gd name="adj" fmla="val 43488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8962949" y="3886200"/>
            <a:ext cx="2734056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Graph: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NetworkX + PyTorch Geometric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Logic: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Graph ML on Neo4j 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8962949" y="4552798"/>
            <a:ext cx="276423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RCA Correlation</a:t>
            </a:r>
            <a:endParaRPr lang="en-US" sz="9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t="-25200" b="-25200"/>
          <a:stretch/>
        </p:blipFill>
        <p:spPr>
          <a:xfrm>
            <a:off x="11505895" y="4552798"/>
            <a:ext cx="114300" cy="171907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962949" y="4762195"/>
            <a:ext cx="2657246" cy="400507"/>
          </a:xfrm>
          <a:prstGeom prst="roundRect">
            <a:avLst>
              <a:gd name="adj" fmla="val 43488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 txBox="1"/>
          <p:nvPr/>
        </p:nvSpPr>
        <p:spPr>
          <a:xfrm>
            <a:off x="8962949" y="4762195"/>
            <a:ext cx="2734056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Engine: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Spark ML (Clustering)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View: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Grafana / Kibana Dashboard 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8962949" y="5429707"/>
            <a:ext cx="276423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Automation</a:t>
            </a:r>
            <a:endParaRPr lang="en-US" sz="9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rcRect t="-25200" b="-25200"/>
          <a:stretch/>
        </p:blipFill>
        <p:spPr>
          <a:xfrm>
            <a:off x="11505895" y="5429707"/>
            <a:ext cx="114300" cy="171907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8962949" y="5639105"/>
            <a:ext cx="2657246" cy="400507"/>
          </a:xfrm>
          <a:prstGeom prst="roundRect">
            <a:avLst>
              <a:gd name="adj" fmla="val 43488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 txBox="1"/>
          <p:nvPr/>
        </p:nvSpPr>
        <p:spPr>
          <a:xfrm>
            <a:off x="8962949" y="5639105"/>
            <a:ext cx="2734056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Orchestrator: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Ansible / NSO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API: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AMDL (Modify) 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8962949" y="6305702"/>
            <a:ext cx="276423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Knowledge Bot</a:t>
            </a:r>
            <a:endParaRPr lang="en-US" sz="9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rcRect t="-25200" b="-25200"/>
          <a:stretch/>
        </p:blipFill>
        <p:spPr>
          <a:xfrm>
            <a:off x="11505895" y="6305702"/>
            <a:ext cx="114300" cy="171907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8962949" y="6515100"/>
            <a:ext cx="2657246" cy="400507"/>
          </a:xfrm>
          <a:prstGeom prst="roundRect">
            <a:avLst>
              <a:gd name="adj" fmla="val 43488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 txBox="1"/>
          <p:nvPr/>
        </p:nvSpPr>
        <p:spPr>
          <a:xfrm>
            <a:off x="8962949" y="6515100"/>
            <a:ext cx="2734056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LLM: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OpenAI GPT + LangChain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Index:</a:t>
            </a: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FAISS Vector Store </a:t>
            </a:r>
            <a:endParaRPr lang="en-US" sz="800" dirty="0"/>
          </a:p>
        </p:txBody>
      </p:sp>
      <p:sp>
        <p:nvSpPr>
          <p:cNvPr id="37" name="Shape 28"/>
          <p:cNvSpPr/>
          <p:nvPr/>
        </p:nvSpPr>
        <p:spPr>
          <a:xfrm>
            <a:off x="381305" y="1047902"/>
            <a:ext cx="8191195" cy="504749"/>
          </a:xfrm>
          <a:prstGeom prst="roundRect">
            <a:avLst>
              <a:gd name="adj" fmla="val 54690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 txBox="1"/>
          <p:nvPr/>
        </p:nvSpPr>
        <p:spPr>
          <a:xfrm>
            <a:off x="800100" y="1205179"/>
            <a:ext cx="13331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8. API Layer</a:t>
            </a:r>
            <a:endParaRPr lang="en-US" sz="9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7"/>
          <a:srcRect l="-52716" r="-52716"/>
          <a:stretch/>
        </p:blipFill>
        <p:spPr>
          <a:xfrm>
            <a:off x="533095" y="1236269"/>
            <a:ext cx="190195" cy="123444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2057400" y="1152144"/>
            <a:ext cx="9144" cy="29535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1"/>
          <p:cNvSpPr/>
          <p:nvPr/>
        </p:nvSpPr>
        <p:spPr>
          <a:xfrm>
            <a:off x="2257654" y="1152144"/>
            <a:ext cx="828446" cy="295351"/>
          </a:xfrm>
          <a:prstGeom prst="roundRect">
            <a:avLst>
              <a:gd name="adj" fmla="val 79896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 txBox="1"/>
          <p:nvPr/>
        </p:nvSpPr>
        <p:spPr>
          <a:xfrm>
            <a:off x="2533802" y="1152144"/>
            <a:ext cx="70500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FastAPI</a:t>
            </a:r>
            <a:endParaRPr lang="en-US" sz="8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361895" y="1240841"/>
            <a:ext cx="114300" cy="114300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3154680" y="1152144"/>
            <a:ext cx="1171346" cy="295351"/>
          </a:xfrm>
          <a:prstGeom prst="roundRect">
            <a:avLst>
              <a:gd name="adj" fmla="val 79896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4"/>
          <p:cNvSpPr txBox="1"/>
          <p:nvPr/>
        </p:nvSpPr>
        <p:spPr>
          <a:xfrm>
            <a:off x="3459175" y="1152144"/>
            <a:ext cx="9244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AMDL Gateway</a:t>
            </a:r>
            <a:endParaRPr lang="en-US" sz="8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3259836" y="1240841"/>
            <a:ext cx="142646" cy="114300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4395521" y="1152144"/>
            <a:ext cx="952805" cy="295351"/>
          </a:xfrm>
          <a:prstGeom prst="roundRect">
            <a:avLst>
              <a:gd name="adj" fmla="val 79896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6"/>
          <p:cNvSpPr txBox="1"/>
          <p:nvPr/>
        </p:nvSpPr>
        <p:spPr>
          <a:xfrm>
            <a:off x="4671670" y="1152144"/>
            <a:ext cx="73426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REST/gRPC</a:t>
            </a:r>
            <a:endParaRPr lang="en-US" sz="8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499762" y="1240841"/>
            <a:ext cx="114300" cy="114300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381305" y="1776679"/>
            <a:ext cx="8191195" cy="580644"/>
          </a:xfrm>
          <a:prstGeom prst="roundRect">
            <a:avLst>
              <a:gd name="adj" fmla="val 41306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8"/>
          <p:cNvSpPr txBox="1"/>
          <p:nvPr/>
        </p:nvSpPr>
        <p:spPr>
          <a:xfrm>
            <a:off x="790042" y="1880921"/>
            <a:ext cx="132862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F472B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7. LLM / Knowledge</a:t>
            </a:r>
            <a:endParaRPr lang="en-US" sz="90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1"/>
          <a:srcRect l="-8667" r="-8667"/>
          <a:stretch/>
        </p:blipFill>
        <p:spPr>
          <a:xfrm>
            <a:off x="533095" y="2005279"/>
            <a:ext cx="181051" cy="123444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2057400" y="1922069"/>
            <a:ext cx="9144" cy="29535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0"/>
          <p:cNvSpPr/>
          <p:nvPr/>
        </p:nvSpPr>
        <p:spPr>
          <a:xfrm>
            <a:off x="2257654" y="1922069"/>
            <a:ext cx="1143000" cy="295351"/>
          </a:xfrm>
          <a:prstGeom prst="roundRect">
            <a:avLst>
              <a:gd name="adj" fmla="val 79896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1"/>
          <p:cNvSpPr txBox="1"/>
          <p:nvPr/>
        </p:nvSpPr>
        <p:spPr>
          <a:xfrm>
            <a:off x="2533802" y="1922069"/>
            <a:ext cx="9244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B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OpenAI GPT-4</a:t>
            </a:r>
            <a:endParaRPr lang="en-US" sz="800" dirty="0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2361895" y="2009851"/>
            <a:ext cx="114300" cy="114300"/>
          </a:xfrm>
          <a:prstGeom prst="rect">
            <a:avLst/>
          </a:prstGeom>
        </p:spPr>
      </p:pic>
      <p:sp>
        <p:nvSpPr>
          <p:cNvPr id="57" name="Shape 42"/>
          <p:cNvSpPr/>
          <p:nvPr/>
        </p:nvSpPr>
        <p:spPr>
          <a:xfrm>
            <a:off x="3469234" y="1922069"/>
            <a:ext cx="981151" cy="295351"/>
          </a:xfrm>
          <a:prstGeom prst="roundRect">
            <a:avLst>
              <a:gd name="adj" fmla="val 79896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3"/>
          <p:cNvSpPr txBox="1"/>
          <p:nvPr/>
        </p:nvSpPr>
        <p:spPr>
          <a:xfrm>
            <a:off x="3773729" y="1922069"/>
            <a:ext cx="73426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B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</a:t>
            </a:r>
            <a:endParaRPr lang="en-US" sz="800" dirty="0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3"/>
          <a:srcRect t="-80" b="-80"/>
          <a:stretch/>
        </p:blipFill>
        <p:spPr>
          <a:xfrm>
            <a:off x="3574390" y="2009851"/>
            <a:ext cx="142646" cy="11430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4520794" y="1922069"/>
            <a:ext cx="1447495" cy="295351"/>
          </a:xfrm>
          <a:prstGeom prst="roundRect">
            <a:avLst>
              <a:gd name="adj" fmla="val 79896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45"/>
          <p:cNvSpPr txBox="1"/>
          <p:nvPr/>
        </p:nvSpPr>
        <p:spPr>
          <a:xfrm>
            <a:off x="4787798" y="1922069"/>
            <a:ext cx="12390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B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FAISS (Vector DB)</a:t>
            </a:r>
            <a:endParaRPr lang="en-US" sz="800" dirty="0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14"/>
          <a:srcRect l="-2571" r="-2571"/>
          <a:stretch/>
        </p:blipFill>
        <p:spPr>
          <a:xfrm>
            <a:off x="4625950" y="2009851"/>
            <a:ext cx="105156" cy="114300"/>
          </a:xfrm>
          <a:prstGeom prst="rect">
            <a:avLst/>
          </a:prstGeom>
        </p:spPr>
      </p:pic>
      <p:sp>
        <p:nvSpPr>
          <p:cNvPr id="63" name="Shape 46"/>
          <p:cNvSpPr/>
          <p:nvPr/>
        </p:nvSpPr>
        <p:spPr>
          <a:xfrm>
            <a:off x="381305" y="2585923"/>
            <a:ext cx="8191195" cy="504749"/>
          </a:xfrm>
          <a:prstGeom prst="roundRect">
            <a:avLst>
              <a:gd name="adj" fmla="val 5469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47"/>
          <p:cNvSpPr txBox="1"/>
          <p:nvPr/>
        </p:nvSpPr>
        <p:spPr>
          <a:xfrm>
            <a:off x="800100" y="2743200"/>
            <a:ext cx="13331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60A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6. Observability</a:t>
            </a:r>
            <a:endParaRPr lang="en-US" sz="900" dirty="0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15"/>
          <a:srcRect l="-18477" r="-18477"/>
          <a:stretch/>
        </p:blipFill>
        <p:spPr>
          <a:xfrm>
            <a:off x="533095" y="2774290"/>
            <a:ext cx="190195" cy="123444"/>
          </a:xfrm>
          <a:prstGeom prst="rect">
            <a:avLst/>
          </a:prstGeom>
        </p:spPr>
      </p:pic>
      <p:sp>
        <p:nvSpPr>
          <p:cNvPr id="66" name="Shape 48"/>
          <p:cNvSpPr/>
          <p:nvPr/>
        </p:nvSpPr>
        <p:spPr>
          <a:xfrm>
            <a:off x="2057400" y="2691079"/>
            <a:ext cx="9144" cy="29535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49"/>
          <p:cNvSpPr/>
          <p:nvPr/>
        </p:nvSpPr>
        <p:spPr>
          <a:xfrm>
            <a:off x="2257654" y="2691079"/>
            <a:ext cx="828446" cy="295351"/>
          </a:xfrm>
          <a:prstGeom prst="roundRect">
            <a:avLst>
              <a:gd name="adj" fmla="val 7989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50"/>
          <p:cNvSpPr txBox="1"/>
          <p:nvPr/>
        </p:nvSpPr>
        <p:spPr>
          <a:xfrm>
            <a:off x="2533802" y="2691079"/>
            <a:ext cx="6099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Grafana</a:t>
            </a:r>
            <a:endParaRPr lang="en-US" sz="800" dirty="0"/>
          </a:p>
        </p:txBody>
      </p:sp>
      <p:pic>
        <p:nvPicPr>
          <p:cNvPr id="69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361895" y="2778862"/>
            <a:ext cx="114300" cy="114300"/>
          </a:xfrm>
          <a:prstGeom prst="rect">
            <a:avLst/>
          </a:prstGeom>
        </p:spPr>
      </p:pic>
      <p:sp>
        <p:nvSpPr>
          <p:cNvPr id="70" name="Shape 51"/>
          <p:cNvSpPr/>
          <p:nvPr/>
        </p:nvSpPr>
        <p:spPr>
          <a:xfrm>
            <a:off x="3154680" y="2691079"/>
            <a:ext cx="1009498" cy="295351"/>
          </a:xfrm>
          <a:prstGeom prst="roundRect">
            <a:avLst>
              <a:gd name="adj" fmla="val 7989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52"/>
          <p:cNvSpPr txBox="1"/>
          <p:nvPr/>
        </p:nvSpPr>
        <p:spPr>
          <a:xfrm>
            <a:off x="3421685" y="2691079"/>
            <a:ext cx="8001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Prometheus</a:t>
            </a:r>
            <a:endParaRPr lang="en-US" sz="800" dirty="0"/>
          </a:p>
        </p:txBody>
      </p:sp>
      <p:pic>
        <p:nvPicPr>
          <p:cNvPr id="72" name="Image 17" descr="preencoded.png"/>
          <p:cNvPicPr>
            <a:picLocks noChangeAspect="1"/>
          </p:cNvPicPr>
          <p:nvPr/>
        </p:nvPicPr>
        <p:blipFill>
          <a:blip r:embed="rId17"/>
          <a:srcRect l="-2571" r="-2571"/>
          <a:stretch/>
        </p:blipFill>
        <p:spPr>
          <a:xfrm>
            <a:off x="3259836" y="2778862"/>
            <a:ext cx="105156" cy="114300"/>
          </a:xfrm>
          <a:prstGeom prst="rect">
            <a:avLst/>
          </a:prstGeom>
        </p:spPr>
      </p:pic>
      <p:sp>
        <p:nvSpPr>
          <p:cNvPr id="73" name="Shape 53"/>
          <p:cNvSpPr/>
          <p:nvPr/>
        </p:nvSpPr>
        <p:spPr>
          <a:xfrm>
            <a:off x="4230929" y="2691079"/>
            <a:ext cx="761695" cy="295351"/>
          </a:xfrm>
          <a:prstGeom prst="roundRect">
            <a:avLst>
              <a:gd name="adj" fmla="val 7989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54"/>
          <p:cNvSpPr txBox="1"/>
          <p:nvPr/>
        </p:nvSpPr>
        <p:spPr>
          <a:xfrm>
            <a:off x="4507078" y="2691079"/>
            <a:ext cx="5431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Kibana</a:t>
            </a:r>
            <a:endParaRPr lang="en-US" sz="800" dirty="0"/>
          </a:p>
        </p:txBody>
      </p:sp>
      <p:pic>
        <p:nvPicPr>
          <p:cNvPr id="75" name="Image 1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336085" y="2778862"/>
            <a:ext cx="114300" cy="114300"/>
          </a:xfrm>
          <a:prstGeom prst="rect">
            <a:avLst/>
          </a:prstGeom>
        </p:spPr>
      </p:pic>
      <p:sp>
        <p:nvSpPr>
          <p:cNvPr id="76" name="Shape 55"/>
          <p:cNvSpPr/>
          <p:nvPr/>
        </p:nvSpPr>
        <p:spPr>
          <a:xfrm>
            <a:off x="381305" y="3314700"/>
            <a:ext cx="8191195" cy="504749"/>
          </a:xfrm>
          <a:prstGeom prst="roundRect">
            <a:avLst>
              <a:gd name="adj" fmla="val 54690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56"/>
          <p:cNvSpPr txBox="1"/>
          <p:nvPr/>
        </p:nvSpPr>
        <p:spPr>
          <a:xfrm>
            <a:off x="800100" y="3471977"/>
            <a:ext cx="13331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34D3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5. Automation</a:t>
            </a:r>
            <a:endParaRPr lang="en-US" sz="900" dirty="0"/>
          </a:p>
        </p:txBody>
      </p:sp>
      <p:pic>
        <p:nvPicPr>
          <p:cNvPr id="78" name="Image 19" descr="preencoded.png"/>
          <p:cNvPicPr>
            <a:picLocks noChangeAspect="1"/>
          </p:cNvPicPr>
          <p:nvPr/>
        </p:nvPicPr>
        <p:blipFill>
          <a:blip r:embed="rId19"/>
          <a:srcRect l="-11630" r="-11630"/>
          <a:stretch/>
        </p:blipFill>
        <p:spPr>
          <a:xfrm>
            <a:off x="533095" y="3503066"/>
            <a:ext cx="190195" cy="123444"/>
          </a:xfrm>
          <a:prstGeom prst="rect">
            <a:avLst/>
          </a:prstGeom>
        </p:spPr>
      </p:pic>
      <p:sp>
        <p:nvSpPr>
          <p:cNvPr id="79" name="Shape 57"/>
          <p:cNvSpPr/>
          <p:nvPr/>
        </p:nvSpPr>
        <p:spPr>
          <a:xfrm>
            <a:off x="2057400" y="3419856"/>
            <a:ext cx="9144" cy="29535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58"/>
          <p:cNvSpPr/>
          <p:nvPr/>
        </p:nvSpPr>
        <p:spPr>
          <a:xfrm>
            <a:off x="2257654" y="3419856"/>
            <a:ext cx="847649" cy="295351"/>
          </a:xfrm>
          <a:prstGeom prst="roundRect">
            <a:avLst>
              <a:gd name="adj" fmla="val 7989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59"/>
          <p:cNvSpPr txBox="1"/>
          <p:nvPr/>
        </p:nvSpPr>
        <p:spPr>
          <a:xfrm>
            <a:off x="2553005" y="3419856"/>
            <a:ext cx="6099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Ansible</a:t>
            </a:r>
            <a:endParaRPr lang="en-US" sz="800" dirty="0"/>
          </a:p>
        </p:txBody>
      </p:sp>
      <p:pic>
        <p:nvPicPr>
          <p:cNvPr id="82" name="Image 20" descr="preencoded.png"/>
          <p:cNvPicPr>
            <a:picLocks noChangeAspect="1"/>
          </p:cNvPicPr>
          <p:nvPr/>
        </p:nvPicPr>
        <p:blipFill>
          <a:blip r:embed="rId20"/>
          <a:srcRect l="-1911" r="-1911"/>
          <a:stretch/>
        </p:blipFill>
        <p:spPr>
          <a:xfrm>
            <a:off x="2361895" y="3507638"/>
            <a:ext cx="133502" cy="114300"/>
          </a:xfrm>
          <a:prstGeom prst="rect">
            <a:avLst/>
          </a:prstGeom>
        </p:spPr>
      </p:pic>
      <p:sp>
        <p:nvSpPr>
          <p:cNvPr id="83" name="Shape 60"/>
          <p:cNvSpPr/>
          <p:nvPr/>
        </p:nvSpPr>
        <p:spPr>
          <a:xfrm>
            <a:off x="3173882" y="3419856"/>
            <a:ext cx="981151" cy="295351"/>
          </a:xfrm>
          <a:prstGeom prst="roundRect">
            <a:avLst>
              <a:gd name="adj" fmla="val 7989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61"/>
          <p:cNvSpPr txBox="1"/>
          <p:nvPr/>
        </p:nvSpPr>
        <p:spPr>
          <a:xfrm>
            <a:off x="3478378" y="3419856"/>
            <a:ext cx="73426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Cisco NSO</a:t>
            </a:r>
            <a:endParaRPr lang="en-US" sz="800" dirty="0"/>
          </a:p>
        </p:txBody>
      </p:sp>
      <p:pic>
        <p:nvPicPr>
          <p:cNvPr id="85" name="Image 21" descr="preencoded.png"/>
          <p:cNvPicPr>
            <a:picLocks noChangeAspect="1"/>
          </p:cNvPicPr>
          <p:nvPr/>
        </p:nvPicPr>
        <p:blipFill>
          <a:blip r:embed="rId21"/>
          <a:srcRect t="-80" b="-80"/>
          <a:stretch/>
        </p:blipFill>
        <p:spPr>
          <a:xfrm>
            <a:off x="3279038" y="3507638"/>
            <a:ext cx="142646" cy="114300"/>
          </a:xfrm>
          <a:prstGeom prst="rect">
            <a:avLst/>
          </a:prstGeom>
        </p:spPr>
      </p:pic>
      <p:sp>
        <p:nvSpPr>
          <p:cNvPr id="86" name="Shape 62"/>
          <p:cNvSpPr/>
          <p:nvPr/>
        </p:nvSpPr>
        <p:spPr>
          <a:xfrm>
            <a:off x="4225442" y="3419856"/>
            <a:ext cx="972007" cy="295351"/>
          </a:xfrm>
          <a:prstGeom prst="roundRect">
            <a:avLst>
              <a:gd name="adj" fmla="val 7989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63"/>
          <p:cNvSpPr txBox="1"/>
          <p:nvPr/>
        </p:nvSpPr>
        <p:spPr>
          <a:xfrm>
            <a:off x="4520794" y="3419856"/>
            <a:ext cx="733349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Terraform</a:t>
            </a:r>
            <a:endParaRPr lang="en-US" sz="800" dirty="0"/>
          </a:p>
        </p:txBody>
      </p:sp>
      <p:pic>
        <p:nvPicPr>
          <p:cNvPr id="88" name="Image 22" descr="preencoded.png"/>
          <p:cNvPicPr>
            <a:picLocks noChangeAspect="1"/>
          </p:cNvPicPr>
          <p:nvPr/>
        </p:nvPicPr>
        <p:blipFill>
          <a:blip r:embed="rId22"/>
          <a:srcRect l="-1911" r="-1911"/>
          <a:stretch/>
        </p:blipFill>
        <p:spPr>
          <a:xfrm>
            <a:off x="4330598" y="3507638"/>
            <a:ext cx="133502" cy="114300"/>
          </a:xfrm>
          <a:prstGeom prst="rect">
            <a:avLst/>
          </a:prstGeom>
        </p:spPr>
      </p:pic>
      <p:sp>
        <p:nvSpPr>
          <p:cNvPr id="89" name="Shape 64"/>
          <p:cNvSpPr/>
          <p:nvPr/>
        </p:nvSpPr>
        <p:spPr>
          <a:xfrm>
            <a:off x="381305" y="4043477"/>
            <a:ext cx="8191195" cy="504749"/>
          </a:xfrm>
          <a:prstGeom prst="roundRect">
            <a:avLst>
              <a:gd name="adj" fmla="val 54690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65"/>
          <p:cNvSpPr txBox="1"/>
          <p:nvPr/>
        </p:nvSpPr>
        <p:spPr>
          <a:xfrm>
            <a:off x="800100" y="4200754"/>
            <a:ext cx="13331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F472B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4. Graph Engine</a:t>
            </a:r>
            <a:endParaRPr lang="en-US" sz="900" dirty="0"/>
          </a:p>
        </p:txBody>
      </p:sp>
      <p:pic>
        <p:nvPicPr>
          <p:cNvPr id="91" name="Image 23" descr="preencoded.png"/>
          <p:cNvPicPr>
            <a:picLocks noChangeAspect="1"/>
          </p:cNvPicPr>
          <p:nvPr/>
        </p:nvPicPr>
        <p:blipFill>
          <a:blip r:embed="rId23"/>
          <a:srcRect l="-18477" r="-18477"/>
          <a:stretch/>
        </p:blipFill>
        <p:spPr>
          <a:xfrm>
            <a:off x="533095" y="4231843"/>
            <a:ext cx="190195" cy="123444"/>
          </a:xfrm>
          <a:prstGeom prst="rect">
            <a:avLst/>
          </a:prstGeom>
        </p:spPr>
      </p:pic>
      <p:sp>
        <p:nvSpPr>
          <p:cNvPr id="92" name="Shape 66"/>
          <p:cNvSpPr/>
          <p:nvPr/>
        </p:nvSpPr>
        <p:spPr>
          <a:xfrm>
            <a:off x="2057400" y="4147718"/>
            <a:ext cx="9144" cy="29535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67"/>
          <p:cNvSpPr/>
          <p:nvPr/>
        </p:nvSpPr>
        <p:spPr>
          <a:xfrm>
            <a:off x="2257654" y="4147718"/>
            <a:ext cx="705002" cy="295351"/>
          </a:xfrm>
          <a:prstGeom prst="roundRect">
            <a:avLst>
              <a:gd name="adj" fmla="val 79896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68"/>
          <p:cNvSpPr txBox="1"/>
          <p:nvPr/>
        </p:nvSpPr>
        <p:spPr>
          <a:xfrm>
            <a:off x="2533802" y="4147718"/>
            <a:ext cx="4864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B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Neo4j</a:t>
            </a:r>
            <a:endParaRPr lang="en-US" sz="800" dirty="0"/>
          </a:p>
        </p:txBody>
      </p:sp>
      <p:pic>
        <p:nvPicPr>
          <p:cNvPr id="95" name="Image 24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2361895" y="4236415"/>
            <a:ext cx="114300" cy="114300"/>
          </a:xfrm>
          <a:prstGeom prst="rect">
            <a:avLst/>
          </a:prstGeom>
        </p:spPr>
      </p:pic>
      <p:sp>
        <p:nvSpPr>
          <p:cNvPr id="96" name="Shape 69"/>
          <p:cNvSpPr/>
          <p:nvPr/>
        </p:nvSpPr>
        <p:spPr>
          <a:xfrm>
            <a:off x="3029407" y="4147718"/>
            <a:ext cx="875995" cy="295351"/>
          </a:xfrm>
          <a:prstGeom prst="roundRect">
            <a:avLst>
              <a:gd name="adj" fmla="val 79896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70"/>
          <p:cNvSpPr txBox="1"/>
          <p:nvPr/>
        </p:nvSpPr>
        <p:spPr>
          <a:xfrm>
            <a:off x="3296412" y="4147718"/>
            <a:ext cx="66659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B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NetworkX</a:t>
            </a:r>
            <a:endParaRPr lang="en-US" sz="800" dirty="0"/>
          </a:p>
        </p:txBody>
      </p:sp>
      <p:pic>
        <p:nvPicPr>
          <p:cNvPr id="98" name="Image 25" descr="preencoded.png"/>
          <p:cNvPicPr>
            <a:picLocks noChangeAspect="1"/>
          </p:cNvPicPr>
          <p:nvPr/>
        </p:nvPicPr>
        <p:blipFill>
          <a:blip r:embed="rId25"/>
          <a:srcRect l="-2571" r="-2571"/>
          <a:stretch/>
        </p:blipFill>
        <p:spPr>
          <a:xfrm>
            <a:off x="3133649" y="4236415"/>
            <a:ext cx="105156" cy="114300"/>
          </a:xfrm>
          <a:prstGeom prst="rect">
            <a:avLst/>
          </a:prstGeom>
        </p:spPr>
      </p:pic>
      <p:sp>
        <p:nvSpPr>
          <p:cNvPr id="99" name="Shape 71"/>
          <p:cNvSpPr/>
          <p:nvPr/>
        </p:nvSpPr>
        <p:spPr>
          <a:xfrm>
            <a:off x="381305" y="4772254"/>
            <a:ext cx="8191195" cy="504749"/>
          </a:xfrm>
          <a:prstGeom prst="roundRect">
            <a:avLst>
              <a:gd name="adj" fmla="val 54690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72"/>
          <p:cNvSpPr txBox="1"/>
          <p:nvPr/>
        </p:nvSpPr>
        <p:spPr>
          <a:xfrm>
            <a:off x="800100" y="4929530"/>
            <a:ext cx="13331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F472B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3. AI / ML Core</a:t>
            </a:r>
            <a:endParaRPr lang="en-US" sz="900" dirty="0"/>
          </a:p>
        </p:txBody>
      </p:sp>
      <p:pic>
        <p:nvPicPr>
          <p:cNvPr id="101" name="Image 26" descr="preencoded.png"/>
          <p:cNvPicPr>
            <a:picLocks noChangeAspect="1"/>
          </p:cNvPicPr>
          <p:nvPr/>
        </p:nvPicPr>
        <p:blipFill>
          <a:blip r:embed="rId26"/>
          <a:srcRect l="-27037" r="-27037"/>
          <a:stretch/>
        </p:blipFill>
        <p:spPr>
          <a:xfrm>
            <a:off x="533095" y="4959706"/>
            <a:ext cx="190195" cy="123444"/>
          </a:xfrm>
          <a:prstGeom prst="rect">
            <a:avLst/>
          </a:prstGeom>
        </p:spPr>
      </p:pic>
      <p:sp>
        <p:nvSpPr>
          <p:cNvPr id="102" name="Shape 73"/>
          <p:cNvSpPr/>
          <p:nvPr/>
        </p:nvSpPr>
        <p:spPr>
          <a:xfrm>
            <a:off x="2057400" y="4876495"/>
            <a:ext cx="9144" cy="29535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74"/>
          <p:cNvSpPr/>
          <p:nvPr/>
        </p:nvSpPr>
        <p:spPr>
          <a:xfrm>
            <a:off x="2257654" y="4876495"/>
            <a:ext cx="1009498" cy="295351"/>
          </a:xfrm>
          <a:prstGeom prst="roundRect">
            <a:avLst>
              <a:gd name="adj" fmla="val 79896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75"/>
          <p:cNvSpPr txBox="1"/>
          <p:nvPr/>
        </p:nvSpPr>
        <p:spPr>
          <a:xfrm>
            <a:off x="2524658" y="4876495"/>
            <a:ext cx="8001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B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TensorFlow</a:t>
            </a:r>
            <a:endParaRPr lang="en-US" sz="800" dirty="0"/>
          </a:p>
        </p:txBody>
      </p:sp>
      <p:pic>
        <p:nvPicPr>
          <p:cNvPr id="105" name="Image 27" descr="preencoded.png"/>
          <p:cNvPicPr>
            <a:picLocks noChangeAspect="1"/>
          </p:cNvPicPr>
          <p:nvPr/>
        </p:nvPicPr>
        <p:blipFill>
          <a:blip r:embed="rId27"/>
          <a:srcRect l="-2571" r="-2571"/>
          <a:stretch/>
        </p:blipFill>
        <p:spPr>
          <a:xfrm>
            <a:off x="2361895" y="4965192"/>
            <a:ext cx="105156" cy="114300"/>
          </a:xfrm>
          <a:prstGeom prst="rect">
            <a:avLst/>
          </a:prstGeom>
        </p:spPr>
      </p:pic>
      <p:sp>
        <p:nvSpPr>
          <p:cNvPr id="106" name="Shape 76"/>
          <p:cNvSpPr/>
          <p:nvPr/>
        </p:nvSpPr>
        <p:spPr>
          <a:xfrm>
            <a:off x="3333902" y="4876495"/>
            <a:ext cx="800100" cy="295351"/>
          </a:xfrm>
          <a:prstGeom prst="roundRect">
            <a:avLst>
              <a:gd name="adj" fmla="val 79896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77"/>
          <p:cNvSpPr txBox="1"/>
          <p:nvPr/>
        </p:nvSpPr>
        <p:spPr>
          <a:xfrm>
            <a:off x="3581705" y="4876495"/>
            <a:ext cx="6099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B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PyTorch</a:t>
            </a:r>
            <a:endParaRPr lang="en-US" sz="800" dirty="0"/>
          </a:p>
        </p:txBody>
      </p:sp>
      <p:pic>
        <p:nvPicPr>
          <p:cNvPr id="108" name="Image 28" descr="preencoded.png"/>
          <p:cNvPicPr>
            <a:picLocks noChangeAspect="1"/>
          </p:cNvPicPr>
          <p:nvPr/>
        </p:nvPicPr>
        <p:blipFill>
          <a:blip r:embed="rId28"/>
          <a:srcRect l="-133" r="-133"/>
          <a:stretch/>
        </p:blipFill>
        <p:spPr>
          <a:xfrm>
            <a:off x="3439058" y="4965192"/>
            <a:ext cx="85954" cy="114300"/>
          </a:xfrm>
          <a:prstGeom prst="rect">
            <a:avLst/>
          </a:prstGeom>
        </p:spPr>
      </p:pic>
      <p:sp>
        <p:nvSpPr>
          <p:cNvPr id="109" name="Shape 78"/>
          <p:cNvSpPr/>
          <p:nvPr/>
        </p:nvSpPr>
        <p:spPr>
          <a:xfrm>
            <a:off x="4202582" y="4876495"/>
            <a:ext cx="1114654" cy="295351"/>
          </a:xfrm>
          <a:prstGeom prst="roundRect">
            <a:avLst>
              <a:gd name="adj" fmla="val 79896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79"/>
          <p:cNvSpPr txBox="1"/>
          <p:nvPr/>
        </p:nvSpPr>
        <p:spPr>
          <a:xfrm>
            <a:off x="4450385" y="4876495"/>
            <a:ext cx="9244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B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Scikit-learn</a:t>
            </a:r>
            <a:endParaRPr lang="en-US" sz="800" dirty="0"/>
          </a:p>
        </p:txBody>
      </p:sp>
      <p:pic>
        <p:nvPicPr>
          <p:cNvPr id="111" name="Image 29" descr="preencoded.png"/>
          <p:cNvPicPr>
            <a:picLocks noChangeAspect="1"/>
          </p:cNvPicPr>
          <p:nvPr/>
        </p:nvPicPr>
        <p:blipFill>
          <a:blip r:embed="rId29"/>
          <a:srcRect l="-133" r="-133"/>
          <a:stretch/>
        </p:blipFill>
        <p:spPr>
          <a:xfrm>
            <a:off x="4307738" y="4965192"/>
            <a:ext cx="85954" cy="114300"/>
          </a:xfrm>
          <a:prstGeom prst="rect">
            <a:avLst/>
          </a:prstGeom>
        </p:spPr>
      </p:pic>
      <p:sp>
        <p:nvSpPr>
          <p:cNvPr id="112" name="Shape 80"/>
          <p:cNvSpPr/>
          <p:nvPr/>
        </p:nvSpPr>
        <p:spPr>
          <a:xfrm>
            <a:off x="5385816" y="4876495"/>
            <a:ext cx="828446" cy="295351"/>
          </a:xfrm>
          <a:prstGeom prst="roundRect">
            <a:avLst>
              <a:gd name="adj" fmla="val 79896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81"/>
          <p:cNvSpPr txBox="1"/>
          <p:nvPr/>
        </p:nvSpPr>
        <p:spPr>
          <a:xfrm>
            <a:off x="5661965" y="4876495"/>
            <a:ext cx="6099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B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Prophet</a:t>
            </a:r>
            <a:endParaRPr lang="en-US" sz="800" dirty="0"/>
          </a:p>
        </p:txBody>
      </p:sp>
      <p:pic>
        <p:nvPicPr>
          <p:cNvPr id="114" name="Image 30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5490972" y="4965192"/>
            <a:ext cx="114300" cy="114300"/>
          </a:xfrm>
          <a:prstGeom prst="rect">
            <a:avLst/>
          </a:prstGeom>
        </p:spPr>
      </p:pic>
      <p:sp>
        <p:nvSpPr>
          <p:cNvPr id="115" name="Shape 82"/>
          <p:cNvSpPr/>
          <p:nvPr/>
        </p:nvSpPr>
        <p:spPr>
          <a:xfrm>
            <a:off x="381305" y="5501030"/>
            <a:ext cx="8191195" cy="504749"/>
          </a:xfrm>
          <a:prstGeom prst="roundRect">
            <a:avLst>
              <a:gd name="adj" fmla="val 5469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83"/>
          <p:cNvSpPr txBox="1"/>
          <p:nvPr/>
        </p:nvSpPr>
        <p:spPr>
          <a:xfrm>
            <a:off x="800100" y="5658307"/>
            <a:ext cx="13331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60A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2. Pipeline</a:t>
            </a:r>
            <a:endParaRPr lang="en-US" sz="900" dirty="0"/>
          </a:p>
        </p:txBody>
      </p:sp>
      <p:pic>
        <p:nvPicPr>
          <p:cNvPr id="117" name="Image 31" descr="preencoded.png"/>
          <p:cNvPicPr>
            <a:picLocks noChangeAspect="1"/>
          </p:cNvPicPr>
          <p:nvPr/>
        </p:nvPicPr>
        <p:blipFill>
          <a:blip r:embed="rId31"/>
          <a:srcRect l="-27037" r="-27037"/>
          <a:stretch/>
        </p:blipFill>
        <p:spPr>
          <a:xfrm>
            <a:off x="533095" y="5688482"/>
            <a:ext cx="190195" cy="123444"/>
          </a:xfrm>
          <a:prstGeom prst="rect">
            <a:avLst/>
          </a:prstGeom>
        </p:spPr>
      </p:pic>
      <p:sp>
        <p:nvSpPr>
          <p:cNvPr id="118" name="Shape 84"/>
          <p:cNvSpPr/>
          <p:nvPr/>
        </p:nvSpPr>
        <p:spPr>
          <a:xfrm>
            <a:off x="2057400" y="5605272"/>
            <a:ext cx="9144" cy="29535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85"/>
          <p:cNvSpPr/>
          <p:nvPr/>
        </p:nvSpPr>
        <p:spPr>
          <a:xfrm>
            <a:off x="2257654" y="5605272"/>
            <a:ext cx="1143000" cy="295351"/>
          </a:xfrm>
          <a:prstGeom prst="roundRect">
            <a:avLst>
              <a:gd name="adj" fmla="val 7989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86"/>
          <p:cNvSpPr txBox="1"/>
          <p:nvPr/>
        </p:nvSpPr>
        <p:spPr>
          <a:xfrm>
            <a:off x="2533802" y="5605272"/>
            <a:ext cx="9244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Apache Kafka</a:t>
            </a:r>
            <a:endParaRPr lang="en-US" sz="800" dirty="0"/>
          </a:p>
        </p:txBody>
      </p:sp>
      <p:pic>
        <p:nvPicPr>
          <p:cNvPr id="121" name="Image 32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2361895" y="5693969"/>
            <a:ext cx="114300" cy="114300"/>
          </a:xfrm>
          <a:prstGeom prst="rect">
            <a:avLst/>
          </a:prstGeom>
        </p:spPr>
      </p:pic>
      <p:sp>
        <p:nvSpPr>
          <p:cNvPr id="122" name="Shape 87"/>
          <p:cNvSpPr/>
          <p:nvPr/>
        </p:nvSpPr>
        <p:spPr>
          <a:xfrm>
            <a:off x="3469234" y="5605272"/>
            <a:ext cx="1133856" cy="295351"/>
          </a:xfrm>
          <a:prstGeom prst="roundRect">
            <a:avLst>
              <a:gd name="adj" fmla="val 7989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88"/>
          <p:cNvSpPr txBox="1"/>
          <p:nvPr/>
        </p:nvSpPr>
        <p:spPr>
          <a:xfrm>
            <a:off x="3736238" y="5605272"/>
            <a:ext cx="9244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Apache Spark</a:t>
            </a:r>
            <a:endParaRPr lang="en-US" sz="800" dirty="0"/>
          </a:p>
        </p:txBody>
      </p:sp>
      <p:pic>
        <p:nvPicPr>
          <p:cNvPr id="124" name="Image 33" descr="preencoded.png"/>
          <p:cNvPicPr>
            <a:picLocks noChangeAspect="1"/>
          </p:cNvPicPr>
          <p:nvPr/>
        </p:nvPicPr>
        <p:blipFill>
          <a:blip r:embed="rId33"/>
          <a:srcRect l="-2571" r="-2571"/>
          <a:stretch/>
        </p:blipFill>
        <p:spPr>
          <a:xfrm>
            <a:off x="3574390" y="5693969"/>
            <a:ext cx="105156" cy="114300"/>
          </a:xfrm>
          <a:prstGeom prst="rect">
            <a:avLst/>
          </a:prstGeom>
        </p:spPr>
      </p:pic>
      <p:sp>
        <p:nvSpPr>
          <p:cNvPr id="125" name="Shape 89"/>
          <p:cNvSpPr/>
          <p:nvPr/>
        </p:nvSpPr>
        <p:spPr>
          <a:xfrm>
            <a:off x="4671670" y="5605272"/>
            <a:ext cx="875995" cy="295351"/>
          </a:xfrm>
          <a:prstGeom prst="roundRect">
            <a:avLst>
              <a:gd name="adj" fmla="val 7989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90"/>
          <p:cNvSpPr txBox="1"/>
          <p:nvPr/>
        </p:nvSpPr>
        <p:spPr>
          <a:xfrm>
            <a:off x="4938674" y="5605272"/>
            <a:ext cx="66659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InfluxDB</a:t>
            </a:r>
            <a:endParaRPr lang="en-US" sz="800" dirty="0"/>
          </a:p>
        </p:txBody>
      </p:sp>
      <p:pic>
        <p:nvPicPr>
          <p:cNvPr id="127" name="Image 34" descr="preencoded.png"/>
          <p:cNvPicPr>
            <a:picLocks noChangeAspect="1"/>
          </p:cNvPicPr>
          <p:nvPr/>
        </p:nvPicPr>
        <p:blipFill>
          <a:blip r:embed="rId34"/>
          <a:srcRect l="-2571" r="-2571"/>
          <a:stretch/>
        </p:blipFill>
        <p:spPr>
          <a:xfrm>
            <a:off x="4775911" y="5693969"/>
            <a:ext cx="105156" cy="114300"/>
          </a:xfrm>
          <a:prstGeom prst="rect">
            <a:avLst/>
          </a:prstGeom>
        </p:spPr>
      </p:pic>
      <p:sp>
        <p:nvSpPr>
          <p:cNvPr id="128" name="Shape 91"/>
          <p:cNvSpPr/>
          <p:nvPr/>
        </p:nvSpPr>
        <p:spPr>
          <a:xfrm>
            <a:off x="5621731" y="5605272"/>
            <a:ext cx="1200607" cy="295351"/>
          </a:xfrm>
          <a:prstGeom prst="roundRect">
            <a:avLst>
              <a:gd name="adj" fmla="val 7989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92"/>
          <p:cNvSpPr txBox="1"/>
          <p:nvPr/>
        </p:nvSpPr>
        <p:spPr>
          <a:xfrm>
            <a:off x="5897880" y="5605272"/>
            <a:ext cx="9811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Elasticsearch</a:t>
            </a:r>
            <a:endParaRPr lang="en-US" sz="800" dirty="0"/>
          </a:p>
        </p:txBody>
      </p:sp>
      <p:pic>
        <p:nvPicPr>
          <p:cNvPr id="130" name="Image 3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726887" y="5693969"/>
            <a:ext cx="114300" cy="114300"/>
          </a:xfrm>
          <a:prstGeom prst="rect">
            <a:avLst/>
          </a:prstGeom>
        </p:spPr>
      </p:pic>
      <p:sp>
        <p:nvSpPr>
          <p:cNvPr id="131" name="Shape 93"/>
          <p:cNvSpPr/>
          <p:nvPr/>
        </p:nvSpPr>
        <p:spPr>
          <a:xfrm>
            <a:off x="381305" y="6229807"/>
            <a:ext cx="8191195" cy="504749"/>
          </a:xfrm>
          <a:prstGeom prst="roundRect">
            <a:avLst>
              <a:gd name="adj" fmla="val 54690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94"/>
          <p:cNvSpPr txBox="1"/>
          <p:nvPr/>
        </p:nvSpPr>
        <p:spPr>
          <a:xfrm>
            <a:off x="800100" y="6386170"/>
            <a:ext cx="133319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34D3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1. Collection</a:t>
            </a:r>
            <a:endParaRPr lang="en-US" sz="900" dirty="0"/>
          </a:p>
        </p:txBody>
      </p:sp>
      <p:pic>
        <p:nvPicPr>
          <p:cNvPr id="133" name="Image 36" descr="preencoded.png"/>
          <p:cNvPicPr>
            <a:picLocks noChangeAspect="1"/>
          </p:cNvPicPr>
          <p:nvPr/>
        </p:nvPicPr>
        <p:blipFill>
          <a:blip r:embed="rId35"/>
          <a:srcRect l="-27037" r="-27037"/>
          <a:stretch/>
        </p:blipFill>
        <p:spPr>
          <a:xfrm>
            <a:off x="533095" y="6417259"/>
            <a:ext cx="190195" cy="123444"/>
          </a:xfrm>
          <a:prstGeom prst="rect">
            <a:avLst/>
          </a:prstGeom>
        </p:spPr>
      </p:pic>
      <p:sp>
        <p:nvSpPr>
          <p:cNvPr id="134" name="Shape 95"/>
          <p:cNvSpPr/>
          <p:nvPr/>
        </p:nvSpPr>
        <p:spPr>
          <a:xfrm>
            <a:off x="2057400" y="6334049"/>
            <a:ext cx="9144" cy="295351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96"/>
          <p:cNvSpPr/>
          <p:nvPr/>
        </p:nvSpPr>
        <p:spPr>
          <a:xfrm>
            <a:off x="2257654" y="6334049"/>
            <a:ext cx="1362456" cy="295351"/>
          </a:xfrm>
          <a:prstGeom prst="roundRect">
            <a:avLst>
              <a:gd name="adj" fmla="val 7989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97"/>
          <p:cNvSpPr txBox="1"/>
          <p:nvPr/>
        </p:nvSpPr>
        <p:spPr>
          <a:xfrm>
            <a:off x="2562149" y="6334049"/>
            <a:ext cx="111556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gNMI/OpenConfig</a:t>
            </a:r>
            <a:endParaRPr lang="en-US" sz="800" dirty="0"/>
          </a:p>
        </p:txBody>
      </p:sp>
      <p:pic>
        <p:nvPicPr>
          <p:cNvPr id="137" name="Image 37" descr="preencoded.png"/>
          <p:cNvPicPr>
            <a:picLocks noChangeAspect="1"/>
          </p:cNvPicPr>
          <p:nvPr/>
        </p:nvPicPr>
        <p:blipFill>
          <a:blip r:embed="rId36"/>
          <a:srcRect t="-80" b="-80"/>
          <a:stretch/>
        </p:blipFill>
        <p:spPr>
          <a:xfrm>
            <a:off x="2361895" y="6421831"/>
            <a:ext cx="142646" cy="114300"/>
          </a:xfrm>
          <a:prstGeom prst="rect">
            <a:avLst/>
          </a:prstGeom>
        </p:spPr>
      </p:pic>
      <p:sp>
        <p:nvSpPr>
          <p:cNvPr id="138" name="Shape 98"/>
          <p:cNvSpPr/>
          <p:nvPr/>
        </p:nvSpPr>
        <p:spPr>
          <a:xfrm>
            <a:off x="3686861" y="6334049"/>
            <a:ext cx="638251" cy="295351"/>
          </a:xfrm>
          <a:prstGeom prst="roundRect">
            <a:avLst>
              <a:gd name="adj" fmla="val 7989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99"/>
          <p:cNvSpPr txBox="1"/>
          <p:nvPr/>
        </p:nvSpPr>
        <p:spPr>
          <a:xfrm>
            <a:off x="3963010" y="6334049"/>
            <a:ext cx="41971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SNMP</a:t>
            </a:r>
            <a:endParaRPr lang="en-US" sz="800" dirty="0"/>
          </a:p>
        </p:txBody>
      </p:sp>
      <p:pic>
        <p:nvPicPr>
          <p:cNvPr id="140" name="Image 38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3791102" y="6421831"/>
            <a:ext cx="114300" cy="114300"/>
          </a:xfrm>
          <a:prstGeom prst="rect">
            <a:avLst/>
          </a:prstGeom>
        </p:spPr>
      </p:pic>
      <p:sp>
        <p:nvSpPr>
          <p:cNvPr id="141" name="Shape 100"/>
          <p:cNvSpPr/>
          <p:nvPr/>
        </p:nvSpPr>
        <p:spPr>
          <a:xfrm>
            <a:off x="4395521" y="6334049"/>
            <a:ext cx="857707" cy="295351"/>
          </a:xfrm>
          <a:prstGeom prst="roundRect">
            <a:avLst>
              <a:gd name="adj" fmla="val 7989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01"/>
          <p:cNvSpPr txBox="1"/>
          <p:nvPr/>
        </p:nvSpPr>
        <p:spPr>
          <a:xfrm>
            <a:off x="4700016" y="6334049"/>
            <a:ext cx="6099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NetFlow</a:t>
            </a:r>
            <a:endParaRPr lang="en-US" sz="800" dirty="0"/>
          </a:p>
        </p:txBody>
      </p:sp>
      <p:pic>
        <p:nvPicPr>
          <p:cNvPr id="143" name="Image 39" descr="preencoded.png"/>
          <p:cNvPicPr>
            <a:picLocks noChangeAspect="1"/>
          </p:cNvPicPr>
          <p:nvPr/>
        </p:nvPicPr>
        <p:blipFill>
          <a:blip r:embed="rId38"/>
          <a:srcRect t="-80" b="-80"/>
          <a:stretch/>
        </p:blipFill>
        <p:spPr>
          <a:xfrm>
            <a:off x="4499762" y="6421831"/>
            <a:ext cx="142646" cy="114300"/>
          </a:xfrm>
          <a:prstGeom prst="rect">
            <a:avLst/>
          </a:prstGeom>
        </p:spPr>
      </p:pic>
      <p:sp>
        <p:nvSpPr>
          <p:cNvPr id="144" name="Shape 102"/>
          <p:cNvSpPr/>
          <p:nvPr/>
        </p:nvSpPr>
        <p:spPr>
          <a:xfrm>
            <a:off x="5320894" y="6334049"/>
            <a:ext cx="857707" cy="295351"/>
          </a:xfrm>
          <a:prstGeom prst="roundRect">
            <a:avLst>
              <a:gd name="adj" fmla="val 7989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03"/>
          <p:cNvSpPr txBox="1"/>
          <p:nvPr/>
        </p:nvSpPr>
        <p:spPr>
          <a:xfrm>
            <a:off x="5568696" y="6334049"/>
            <a:ext cx="66659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Telegraf</a:t>
            </a:r>
            <a:endParaRPr lang="en-US" sz="800" dirty="0"/>
          </a:p>
        </p:txBody>
      </p:sp>
      <p:pic>
        <p:nvPicPr>
          <p:cNvPr id="146" name="Image 40" descr="preencoded.png"/>
          <p:cNvPicPr>
            <a:picLocks noChangeAspect="1"/>
          </p:cNvPicPr>
          <p:nvPr/>
        </p:nvPicPr>
        <p:blipFill>
          <a:blip r:embed="rId39"/>
          <a:srcRect l="-133" r="-133"/>
          <a:stretch/>
        </p:blipFill>
        <p:spPr>
          <a:xfrm>
            <a:off x="5426050" y="6421831"/>
            <a:ext cx="85954" cy="114300"/>
          </a:xfrm>
          <a:prstGeom prst="rect">
            <a:avLst/>
          </a:prstGeom>
        </p:spPr>
      </p:pic>
      <p:sp>
        <p:nvSpPr>
          <p:cNvPr id="147" name="Shape 104"/>
          <p:cNvSpPr/>
          <p:nvPr/>
        </p:nvSpPr>
        <p:spPr>
          <a:xfrm>
            <a:off x="9113825" y="6338621"/>
            <a:ext cx="2704795" cy="333756"/>
          </a:xfrm>
          <a:prstGeom prst="roundRect">
            <a:avLst>
              <a:gd name="adj" fmla="val 273973"/>
            </a:avLst>
          </a:prstGeom>
          <a:solidFill>
            <a:srgbClr val="0B11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05"/>
          <p:cNvSpPr/>
          <p:nvPr/>
        </p:nvSpPr>
        <p:spPr>
          <a:xfrm>
            <a:off x="9275674" y="6464808"/>
            <a:ext cx="75895" cy="75895"/>
          </a:xfrm>
          <a:prstGeom prst="ellipse">
            <a:avLst/>
          </a:prstGeom>
          <a:solidFill>
            <a:srgbClr val="818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06"/>
          <p:cNvSpPr txBox="1"/>
          <p:nvPr/>
        </p:nvSpPr>
        <p:spPr>
          <a:xfrm>
            <a:off x="9409176" y="6424574"/>
            <a:ext cx="72603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API/AI Layer</a:t>
            </a:r>
            <a:endParaRPr lang="en-US" sz="800" dirty="0"/>
          </a:p>
        </p:txBody>
      </p:sp>
      <p:sp>
        <p:nvSpPr>
          <p:cNvPr id="150" name="Shape 107"/>
          <p:cNvSpPr/>
          <p:nvPr/>
        </p:nvSpPr>
        <p:spPr>
          <a:xfrm>
            <a:off x="10168128" y="6464808"/>
            <a:ext cx="75895" cy="7589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08"/>
          <p:cNvSpPr txBox="1"/>
          <p:nvPr/>
        </p:nvSpPr>
        <p:spPr>
          <a:xfrm>
            <a:off x="10301630" y="6424574"/>
            <a:ext cx="63550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152" name="Shape 109"/>
          <p:cNvSpPr/>
          <p:nvPr/>
        </p:nvSpPr>
        <p:spPr>
          <a:xfrm>
            <a:off x="10985602" y="6464808"/>
            <a:ext cx="75895" cy="75895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10"/>
          <p:cNvSpPr txBox="1"/>
          <p:nvPr/>
        </p:nvSpPr>
        <p:spPr>
          <a:xfrm>
            <a:off x="11118190" y="6424574"/>
            <a:ext cx="63550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 Layer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943661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71500" y="9144"/>
            <a:ext cx="5241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Expected Outcomes &amp; Benefits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523951"/>
            <a:ext cx="5763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Delivering value through intelligent automation and strategic alignment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746029" y="552298"/>
            <a:ext cx="8842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&amp; Value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1500" y="1333195"/>
            <a:ext cx="3534156" cy="2457907"/>
          </a:xfrm>
          <a:prstGeom prst="roundRect">
            <a:avLst>
              <a:gd name="adj" fmla="val 46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1333195"/>
            <a:ext cx="3511296" cy="38405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444545" y="1571854"/>
            <a:ext cx="5065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809244" y="157185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929030" y="1705356"/>
            <a:ext cx="219456" cy="1901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09244" y="2180844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Improved Observability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" y="2518258"/>
            <a:ext cx="31345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topology awareness and deep visibility into network state, enabling data-driven decisions rather than guesswork.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30598" y="1333195"/>
            <a:ext cx="3534156" cy="2457907"/>
          </a:xfrm>
          <a:prstGeom prst="roundRect">
            <a:avLst>
              <a:gd name="adj" fmla="val 46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330598" y="1333195"/>
            <a:ext cx="3511296" cy="38405"/>
          </a:xfrm>
          <a:prstGeom prst="rect">
            <a:avLst/>
          </a:prstGeom>
          <a:solidFill>
            <a:srgbClr val="FBBF24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7149694" y="1571854"/>
            <a:ext cx="553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4568342" y="157185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BBF2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4711903" y="1705356"/>
            <a:ext cx="171907" cy="1901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568342" y="2180844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Faster Incident Resolution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568342" y="2518258"/>
            <a:ext cx="31345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Accelerated detection, automated event correlation, and precise Root Cause Analysis (RCA) to minimize downtime.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089697" y="1333195"/>
            <a:ext cx="3534156" cy="2457907"/>
          </a:xfrm>
          <a:prstGeom prst="roundRect">
            <a:avLst>
              <a:gd name="adj" fmla="val 46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089697" y="1333195"/>
            <a:ext cx="3511296" cy="38405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10903306" y="1571854"/>
            <a:ext cx="5623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000" dirty="0"/>
          </a:p>
        </p:txBody>
      </p:sp>
      <p:sp>
        <p:nvSpPr>
          <p:cNvPr id="26" name="Shape 21"/>
          <p:cNvSpPr/>
          <p:nvPr/>
        </p:nvSpPr>
        <p:spPr>
          <a:xfrm>
            <a:off x="8328355" y="157185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60A5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60943" y="1705356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328355" y="2180844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Predictive Planning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8328355" y="2518258"/>
            <a:ext cx="31345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capacity planning and performance tuning driven by AI forecasting models, preventing congestion before it occurs.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71500" y="4019702"/>
            <a:ext cx="3534156" cy="2457907"/>
          </a:xfrm>
          <a:prstGeom prst="roundRect">
            <a:avLst>
              <a:gd name="adj" fmla="val 46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71500" y="4019702"/>
            <a:ext cx="3511296" cy="38405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3374136" y="4257446"/>
            <a:ext cx="571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000" dirty="0"/>
          </a:p>
        </p:txBody>
      </p:sp>
      <p:sp>
        <p:nvSpPr>
          <p:cNvPr id="33" name="Shape 27"/>
          <p:cNvSpPr/>
          <p:nvPr/>
        </p:nvSpPr>
        <p:spPr>
          <a:xfrm>
            <a:off x="809244" y="425744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818CF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8972" y="4390949"/>
            <a:ext cx="237744" cy="19019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09244" y="4867351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Reduced Operational Risk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809244" y="5204765"/>
            <a:ext cx="31345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reduction in manual troubleshooting toil and change-related risks through pre-validation and simulation.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4330598" y="4019702"/>
            <a:ext cx="3534156" cy="2457907"/>
          </a:xfrm>
          <a:prstGeom prst="roundRect">
            <a:avLst>
              <a:gd name="adj" fmla="val 46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4330598" y="4019702"/>
            <a:ext cx="3511296" cy="38405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 txBox="1"/>
          <p:nvPr/>
        </p:nvSpPr>
        <p:spPr>
          <a:xfrm>
            <a:off x="7147865" y="4257446"/>
            <a:ext cx="553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3000" dirty="0"/>
          </a:p>
        </p:txBody>
      </p:sp>
      <p:sp>
        <p:nvSpPr>
          <p:cNvPr id="40" name="Shape 33"/>
          <p:cNvSpPr/>
          <p:nvPr/>
        </p:nvSpPr>
        <p:spPr>
          <a:xfrm>
            <a:off x="4568342" y="425744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A78B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78070" y="4390949"/>
            <a:ext cx="237744" cy="19019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4568342" y="4867351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Increased Automation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4568342" y="5204765"/>
            <a:ext cx="31345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Scalable, resilient operations with guardrailed closed-loop automation, moving from reactive fixes to self-healing networks.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8089697" y="4019702"/>
            <a:ext cx="3534156" cy="2457907"/>
          </a:xfrm>
          <a:prstGeom prst="roundRect">
            <a:avLst>
              <a:gd name="adj" fmla="val 461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8089697" y="4019702"/>
            <a:ext cx="3511296" cy="38405"/>
          </a:xfrm>
          <a:prstGeom prst="rect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 txBox="1"/>
          <p:nvPr/>
        </p:nvSpPr>
        <p:spPr>
          <a:xfrm>
            <a:off x="10899648" y="4257446"/>
            <a:ext cx="5623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3000" dirty="0"/>
          </a:p>
        </p:txBody>
      </p:sp>
      <p:sp>
        <p:nvSpPr>
          <p:cNvPr id="47" name="Shape 39"/>
          <p:cNvSpPr/>
          <p:nvPr/>
        </p:nvSpPr>
        <p:spPr>
          <a:xfrm>
            <a:off x="8328355" y="425744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34D3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60943" y="4390949"/>
            <a:ext cx="190195" cy="190195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8328355" y="4867351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Strategic NaaP Alignment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8328355" y="5204765"/>
            <a:ext cx="31345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strict alignment with NaaP/AMDL architecture while enabling incremental delivery for faster time-to-value.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ab56b7-6ec4-4073-8d92-ac7cc2e7a5df}" enabled="1" method="Privileged" siteId="{49dfc6a3-5fb7-49f4-adea-c54e725bb8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1423</Words>
  <Application>Microsoft Office PowerPoint</Application>
  <PresentationFormat>Widescreen</PresentationFormat>
  <Paragraphs>387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Courier New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Alpit Chandrakant Tare</cp:lastModifiedBy>
  <cp:revision>3</cp:revision>
  <dcterms:created xsi:type="dcterms:W3CDTF">2026-03-18T05:21:14Z</dcterms:created>
  <dcterms:modified xsi:type="dcterms:W3CDTF">2026-03-18T05:34:03Z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General</vt:lpwstr>
  </property>
</Properties>
</file>