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68BD5-8DB4-4A15-BF72-40A45C48FD6B}" v="2" dt="2026-03-26T14:19:36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2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A8872-741D-BAE3-14DE-363CB2AE77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52925" y="49276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37160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91640" y="731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Network Change Safety Guardian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3474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Pre-Deployment Risk Assessment  •  Production-Grade System</a:t>
            </a:r>
            <a:endParaRPr lang="en-US" sz="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3716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54112" y="109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BlastGuard-AI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54112" y="3291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System</a:t>
            </a:r>
            <a:endParaRPr lang="en-US" sz="5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79552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1069848"/>
            <a:ext cx="2743200" cy="3090672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0040" y="1069848"/>
            <a:ext cx="36576" cy="30906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6344" y="122529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12648" y="11978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&amp; Complex Changes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12648" y="1362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BGP, OSPF etc. changes across multi-vendor network environments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66344" y="195681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12648" y="19293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Static Checks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12648" y="20939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rely on human expertise and "stare-and-compare" review methods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66344" y="268833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12648" y="26609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Blast Radius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12648" y="2825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predict how a config change propagates through the topology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466344" y="341985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12648" y="33924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12648" y="35570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error can take down critical business services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3246120" y="7772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86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91840" y="1069848"/>
            <a:ext cx="2560320" cy="3090672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520440" y="1143000"/>
            <a:ext cx="2103120" cy="420624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1188720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831336" y="116128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Layer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831336" y="1289304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cisco_config.py  •  topology.py</a:t>
            </a:r>
            <a:endParaRPr lang="en-US" sz="500" dirty="0"/>
          </a:p>
        </p:txBody>
      </p:sp>
      <p:sp>
        <p:nvSpPr>
          <p:cNvPr id="33" name="Text 28"/>
          <p:cNvSpPr/>
          <p:nvPr/>
        </p:nvSpPr>
        <p:spPr>
          <a:xfrm>
            <a:off x="3831336" y="1399032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NX-OS  •  Catalyst IOS  •  Regex CLI Parsing</a:t>
            </a:r>
            <a:endParaRPr lang="en-US" sz="5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1565453"/>
            <a:ext cx="109728" cy="64008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3520440" y="1627632"/>
            <a:ext cx="2103120" cy="420624"/>
          </a:xfrm>
          <a:prstGeom prst="rect">
            <a:avLst/>
          </a:prstGeom>
          <a:solidFill>
            <a:srgbClr val="2563EB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2" y="1673352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31336" y="164592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Analysis Engine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3831336" y="1773936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CiscoConfigParser  •  Diff Engine</a:t>
            </a:r>
            <a:endParaRPr lang="en-US" sz="5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2050085"/>
            <a:ext cx="109728" cy="64008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3520440" y="2112264"/>
            <a:ext cx="2103120" cy="420624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2157984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831336" y="213055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 Analytics</a:t>
            </a:r>
            <a:endParaRPr lang="en-US" sz="750" dirty="0"/>
          </a:p>
        </p:txBody>
      </p:sp>
      <p:sp>
        <p:nvSpPr>
          <p:cNvPr id="44" name="Text 35"/>
          <p:cNvSpPr/>
          <p:nvPr/>
        </p:nvSpPr>
        <p:spPr>
          <a:xfrm>
            <a:off x="3758184" y="2258568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Centrality Algorithms</a:t>
            </a:r>
            <a:endParaRPr lang="en-US" sz="5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2534717"/>
            <a:ext cx="109728" cy="64008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3520440" y="2596896"/>
            <a:ext cx="2103120" cy="420624"/>
          </a:xfrm>
          <a:prstGeom prst="rect">
            <a:avLst/>
          </a:prstGeom>
          <a:solidFill>
            <a:srgbClr val="059669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3592" y="2642616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3831336" y="2615184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</a:t>
            </a:r>
            <a:endParaRPr lang="en-US" sz="750" dirty="0"/>
          </a:p>
        </p:txBody>
      </p:sp>
      <p:sp>
        <p:nvSpPr>
          <p:cNvPr id="51" name="Text 40"/>
          <p:cNvSpPr/>
          <p:nvPr/>
        </p:nvSpPr>
        <p:spPr>
          <a:xfrm>
            <a:off x="3831336" y="274320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best auto-selected from 7 ML models</a:t>
            </a:r>
            <a:endParaRPr lang="en-US" sz="5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3019349"/>
            <a:ext cx="109728" cy="64008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3520440" y="3081528"/>
            <a:ext cx="2103120" cy="420624"/>
          </a:xfrm>
          <a:prstGeom prst="rect">
            <a:avLst/>
          </a:prstGeom>
          <a:solidFill>
            <a:srgbClr val="B8860B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3592" y="3127248"/>
            <a:ext cx="182880" cy="18288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3831336" y="3099816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RAG</a:t>
            </a:r>
            <a:endParaRPr lang="en-US" sz="750" dirty="0"/>
          </a:p>
        </p:txBody>
      </p:sp>
      <p:sp>
        <p:nvSpPr>
          <p:cNvPr id="57" name="Text 44"/>
          <p:cNvSpPr/>
          <p:nvPr/>
        </p:nvSpPr>
        <p:spPr>
          <a:xfrm>
            <a:off x="3831336" y="321868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LLM Explanations  •  SHAP Reasoning</a:t>
            </a:r>
            <a:endParaRPr lang="en-US" sz="5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3503981"/>
            <a:ext cx="109728" cy="64008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3520440" y="3566160"/>
            <a:ext cx="2103120" cy="420624"/>
          </a:xfrm>
          <a:prstGeom prst="rect">
            <a:avLst/>
          </a:prstGeom>
          <a:solidFill>
            <a:srgbClr val="16A34A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3592" y="3611880"/>
            <a:ext cx="182880" cy="182880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3831336" y="358444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Advisory Output</a:t>
            </a:r>
            <a:endParaRPr lang="en-US" sz="750" dirty="0"/>
          </a:p>
        </p:txBody>
      </p:sp>
      <p:sp>
        <p:nvSpPr>
          <p:cNvPr id="63" name="Text 48"/>
          <p:cNvSpPr/>
          <p:nvPr/>
        </p:nvSpPr>
        <p:spPr>
          <a:xfrm>
            <a:off x="3831336" y="370332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 &amp; Risk Level  •  Blast Radius Map</a:t>
            </a:r>
            <a:endParaRPr lang="en-US" sz="500" dirty="0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7336" y="795528"/>
            <a:ext cx="201168" cy="201168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6355080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66" name="Shape 50"/>
          <p:cNvSpPr/>
          <p:nvPr/>
        </p:nvSpPr>
        <p:spPr>
          <a:xfrm>
            <a:off x="6080760" y="1069848"/>
            <a:ext cx="2743200" cy="3090672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51"/>
          <p:cNvSpPr/>
          <p:nvPr/>
        </p:nvSpPr>
        <p:spPr>
          <a:xfrm>
            <a:off x="6080760" y="1069848"/>
            <a:ext cx="36576" cy="3090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52"/>
          <p:cNvSpPr/>
          <p:nvPr/>
        </p:nvSpPr>
        <p:spPr>
          <a:xfrm>
            <a:off x="6190488" y="1207008"/>
            <a:ext cx="201168" cy="201168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8776" y="1225296"/>
            <a:ext cx="164592" cy="164592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6446520" y="119786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Config Analysis</a:t>
            </a:r>
            <a:endParaRPr lang="en-US" sz="800" dirty="0"/>
          </a:p>
        </p:txBody>
      </p:sp>
      <p:sp>
        <p:nvSpPr>
          <p:cNvPr id="71" name="Text 54"/>
          <p:cNvSpPr/>
          <p:nvPr/>
        </p:nvSpPr>
        <p:spPr>
          <a:xfrm>
            <a:off x="6446520" y="136245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compare proposed changes against current network state</a:t>
            </a:r>
            <a:endParaRPr lang="en-US" sz="700" dirty="0"/>
          </a:p>
        </p:txBody>
      </p:sp>
      <p:sp>
        <p:nvSpPr>
          <p:cNvPr id="72" name="Shape 55"/>
          <p:cNvSpPr/>
          <p:nvPr/>
        </p:nvSpPr>
        <p:spPr>
          <a:xfrm>
            <a:off x="6190488" y="1938528"/>
            <a:ext cx="201168" cy="201168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8776" y="1956816"/>
            <a:ext cx="164592" cy="164592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6446520" y="192938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Risk Prediction</a:t>
            </a:r>
            <a:endParaRPr lang="en-US" sz="800" dirty="0"/>
          </a:p>
        </p:txBody>
      </p:sp>
      <p:sp>
        <p:nvSpPr>
          <p:cNvPr id="75" name="Text 57"/>
          <p:cNvSpPr/>
          <p:nvPr/>
        </p:nvSpPr>
        <p:spPr>
          <a:xfrm>
            <a:off x="6446520" y="209397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ML models auto-select best performer for probability scoring</a:t>
            </a:r>
            <a:endParaRPr lang="en-US" sz="700" dirty="0"/>
          </a:p>
        </p:txBody>
      </p:sp>
      <p:sp>
        <p:nvSpPr>
          <p:cNvPr id="76" name="Shape 58"/>
          <p:cNvSpPr/>
          <p:nvPr/>
        </p:nvSpPr>
        <p:spPr>
          <a:xfrm>
            <a:off x="6190488" y="2670048"/>
            <a:ext cx="201168" cy="201168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08776" y="2688336"/>
            <a:ext cx="164592" cy="164592"/>
          </a:xfrm>
          <a:prstGeom prst="rect">
            <a:avLst/>
          </a:prstGeom>
        </p:spPr>
      </p:pic>
      <p:sp>
        <p:nvSpPr>
          <p:cNvPr id="78" name="Text 59"/>
          <p:cNvSpPr/>
          <p:nvPr/>
        </p:nvSpPr>
        <p:spPr>
          <a:xfrm>
            <a:off x="6446520" y="266090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800" dirty="0"/>
          </a:p>
        </p:txBody>
      </p:sp>
      <p:sp>
        <p:nvSpPr>
          <p:cNvPr id="79" name="Text 60"/>
          <p:cNvSpPr/>
          <p:nvPr/>
        </p:nvSpPr>
        <p:spPr>
          <a:xfrm>
            <a:off x="6446520" y="282549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reasons why a change is flagged as risky — builds trust</a:t>
            </a:r>
            <a:endParaRPr lang="en-US" sz="700" dirty="0"/>
          </a:p>
        </p:txBody>
      </p:sp>
      <p:sp>
        <p:nvSpPr>
          <p:cNvPr id="80" name="Shape 61"/>
          <p:cNvSpPr/>
          <p:nvPr/>
        </p:nvSpPr>
        <p:spPr>
          <a:xfrm>
            <a:off x="6190488" y="3401568"/>
            <a:ext cx="201168" cy="201168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1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8776" y="3419856"/>
            <a:ext cx="164592" cy="164592"/>
          </a:xfrm>
          <a:prstGeom prst="rect">
            <a:avLst/>
          </a:prstGeom>
        </p:spPr>
      </p:pic>
      <p:sp>
        <p:nvSpPr>
          <p:cNvPr id="82" name="Text 62"/>
          <p:cNvSpPr/>
          <p:nvPr/>
        </p:nvSpPr>
        <p:spPr>
          <a:xfrm>
            <a:off x="6446520" y="339242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Mapping</a:t>
            </a:r>
            <a:endParaRPr lang="en-US" sz="800" dirty="0"/>
          </a:p>
        </p:txBody>
      </p:sp>
      <p:sp>
        <p:nvSpPr>
          <p:cNvPr id="83" name="Text 63"/>
          <p:cNvSpPr/>
          <p:nvPr/>
        </p:nvSpPr>
        <p:spPr>
          <a:xfrm>
            <a:off x="6446520" y="355701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visualizes cascading effects across topology</a:t>
            </a:r>
            <a:endParaRPr lang="en-US" sz="700" dirty="0"/>
          </a:p>
        </p:txBody>
      </p:sp>
      <p:sp>
        <p:nvSpPr>
          <p:cNvPr id="84" name="Shape 64"/>
          <p:cNvSpPr/>
          <p:nvPr/>
        </p:nvSpPr>
        <p:spPr>
          <a:xfrm>
            <a:off x="320040" y="4204385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5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0040" y="4299403"/>
            <a:ext cx="164592" cy="164592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530352" y="4281115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750" dirty="0"/>
          </a:p>
        </p:txBody>
      </p:sp>
      <p:sp>
        <p:nvSpPr>
          <p:cNvPr id="87" name="Shape 66"/>
          <p:cNvSpPr/>
          <p:nvPr/>
        </p:nvSpPr>
        <p:spPr>
          <a:xfrm>
            <a:off x="1051560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67"/>
          <p:cNvSpPr/>
          <p:nvPr/>
        </p:nvSpPr>
        <p:spPr>
          <a:xfrm>
            <a:off x="1161288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Alpit Tare</a:t>
            </a:r>
            <a:endParaRPr lang="en-US" sz="700" dirty="0"/>
          </a:p>
        </p:txBody>
      </p:sp>
      <p:sp>
        <p:nvSpPr>
          <p:cNvPr id="89" name="Shape 68"/>
          <p:cNvSpPr/>
          <p:nvPr/>
        </p:nvSpPr>
        <p:spPr>
          <a:xfrm>
            <a:off x="2258568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69"/>
          <p:cNvSpPr/>
          <p:nvPr/>
        </p:nvSpPr>
        <p:spPr>
          <a:xfrm>
            <a:off x="2368296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Sawale</a:t>
            </a:r>
            <a:endParaRPr lang="en-US" sz="700" dirty="0"/>
          </a:p>
        </p:txBody>
      </p:sp>
      <p:sp>
        <p:nvSpPr>
          <p:cNvPr id="91" name="Shape 70"/>
          <p:cNvSpPr/>
          <p:nvPr/>
        </p:nvSpPr>
        <p:spPr>
          <a:xfrm>
            <a:off x="3465576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71"/>
          <p:cNvSpPr/>
          <p:nvPr/>
        </p:nvSpPr>
        <p:spPr>
          <a:xfrm>
            <a:off x="3575304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Kanhaiya Chowdhari</a:t>
            </a:r>
            <a:endParaRPr lang="en-US" sz="700" dirty="0"/>
          </a:p>
        </p:txBody>
      </p:sp>
      <p:sp>
        <p:nvSpPr>
          <p:cNvPr id="93" name="Shape 72"/>
          <p:cNvSpPr/>
          <p:nvPr/>
        </p:nvSpPr>
        <p:spPr>
          <a:xfrm>
            <a:off x="4672584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73"/>
          <p:cNvSpPr/>
          <p:nvPr/>
        </p:nvSpPr>
        <p:spPr>
          <a:xfrm>
            <a:off x="4782312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 Khan</a:t>
            </a:r>
            <a:endParaRPr lang="en-US" sz="700" dirty="0"/>
          </a:p>
        </p:txBody>
      </p:sp>
      <p:sp>
        <p:nvSpPr>
          <p:cNvPr id="95" name="Shape 74"/>
          <p:cNvSpPr/>
          <p:nvPr/>
        </p:nvSpPr>
        <p:spPr>
          <a:xfrm>
            <a:off x="5879592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75"/>
          <p:cNvSpPr/>
          <p:nvPr/>
        </p:nvSpPr>
        <p:spPr>
          <a:xfrm>
            <a:off x="5989320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Menino D'costa</a:t>
            </a:r>
            <a:endParaRPr lang="en-US" sz="700" dirty="0"/>
          </a:p>
        </p:txBody>
      </p:sp>
      <p:sp>
        <p:nvSpPr>
          <p:cNvPr id="97" name="Shape 76"/>
          <p:cNvSpPr/>
          <p:nvPr/>
        </p:nvSpPr>
        <p:spPr>
          <a:xfrm>
            <a:off x="7086600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77"/>
          <p:cNvSpPr/>
          <p:nvPr/>
        </p:nvSpPr>
        <p:spPr>
          <a:xfrm>
            <a:off x="7196328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 Gudadari</a:t>
            </a:r>
            <a:endParaRPr lang="en-US" sz="700" dirty="0"/>
          </a:p>
        </p:txBody>
      </p:sp>
      <p:sp>
        <p:nvSpPr>
          <p:cNvPr id="101" name="Shape 114">
            <a:extLst>
              <a:ext uri="{FF2B5EF4-FFF2-40B4-BE49-F238E27FC236}">
                <a16:creationId xmlns:a16="http://schemas.microsoft.com/office/drawing/2014/main" id="{8F119C65-5DE6-81F4-BA2F-8F2A77D48A51}"/>
              </a:ext>
            </a:extLst>
          </p:cNvPr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15">
            <a:extLst>
              <a:ext uri="{FF2B5EF4-FFF2-40B4-BE49-F238E27FC236}">
                <a16:creationId xmlns:a16="http://schemas.microsoft.com/office/drawing/2014/main" id="{7620521F-0E62-EFE5-8EDB-0106113CE27B}"/>
              </a:ext>
            </a:extLst>
          </p:cNvPr>
          <p:cNvSpPr/>
          <p:nvPr/>
        </p:nvSpPr>
        <p:spPr>
          <a:xfrm>
            <a:off x="182880" y="4828032"/>
            <a:ext cx="8778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FastAPI  •  Streamlit  •  scikit-learn  •  XGBoost  •  NetworkX  •  SHAP  •  Pandas  •  Matplotlib  •  OpenAI LLM Agent</a:t>
            </a:r>
            <a:endParaRPr lang="en-US" sz="600" dirty="0"/>
          </a:p>
        </p:txBody>
      </p:sp>
      <p:sp>
        <p:nvSpPr>
          <p:cNvPr id="103" name="Text 116">
            <a:extLst>
              <a:ext uri="{FF2B5EF4-FFF2-40B4-BE49-F238E27FC236}">
                <a16:creationId xmlns:a16="http://schemas.microsoft.com/office/drawing/2014/main" id="{201C6D50-0F35-3125-0406-F0D3FAC21145}"/>
              </a:ext>
            </a:extLst>
          </p:cNvPr>
          <p:cNvSpPr/>
          <p:nvPr/>
        </p:nvSpPr>
        <p:spPr>
          <a:xfrm>
            <a:off x="182880" y="4974336"/>
            <a:ext cx="8778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10 devices  •  11 topology links  •  20 services  •  200 training samples  •  8 device configs  •  3 proposed change files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11887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18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554480" y="64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Network Change Safety Guardian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3017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  •  Real Data  •  10 Device DC Topology  •  20 Services  •  7 ML Models</a:t>
            </a:r>
            <a:endParaRPr lang="en-US" sz="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08392" y="91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BlastGuard-AI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08392" y="2743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Pipeline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182880" y="713232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2880" y="713232"/>
            <a:ext cx="260604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74980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71323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Demo Input Data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56032" y="1042416"/>
            <a:ext cx="2459736" cy="4754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10896" y="105156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Core1.cfg (Proposed Change)</a:t>
            </a:r>
            <a:endParaRPr lang="en-US" sz="550" dirty="0"/>
          </a:p>
          <a:p>
            <a:pPr marL="0" indent="0">
              <a:buNone/>
            </a:pPr>
            <a:r>
              <a:rPr lang="en-US" sz="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 Core1</a:t>
            </a:r>
            <a:endParaRPr lang="en-US" sz="550" dirty="0"/>
          </a:p>
          <a:p>
            <a:pPr marL="0" indent="0">
              <a:buNone/>
            </a:pPr>
            <a:r>
              <a:rPr lang="en-US" sz="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bgp 65000</a:t>
            </a:r>
            <a:endParaRPr lang="en-US" sz="550" dirty="0"/>
          </a:p>
          <a:p>
            <a:pPr marL="0" indent="0">
              <a:buNone/>
            </a:pPr>
            <a:r>
              <a:rPr lang="en-US" sz="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neighbor 2.2.2.2 remote-as 65000</a:t>
            </a:r>
            <a:endParaRPr lang="en-US" sz="550" dirty="0"/>
          </a:p>
        </p:txBody>
      </p:sp>
      <p:sp>
        <p:nvSpPr>
          <p:cNvPr id="17" name="Text 13"/>
          <p:cNvSpPr/>
          <p:nvPr/>
        </p:nvSpPr>
        <p:spPr>
          <a:xfrm>
            <a:off x="256032" y="1572768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Topology: 10 Devices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256032" y="1700784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Core1/2 → Agg1/2 → Edge1/2/3 → Access1/2/3</a:t>
            </a:r>
            <a:endParaRPr lang="en-US" sz="550" dirty="0"/>
          </a:p>
        </p:txBody>
      </p:sp>
      <p:sp>
        <p:nvSpPr>
          <p:cNvPr id="19" name="Text 15"/>
          <p:cNvSpPr/>
          <p:nvPr/>
        </p:nvSpPr>
        <p:spPr>
          <a:xfrm>
            <a:off x="256032" y="1810512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Services (Bank, Retail, Hospital, Finance)</a:t>
            </a:r>
            <a:endParaRPr lang="en-US" sz="550" dirty="0"/>
          </a:p>
        </p:txBody>
      </p:sp>
      <p:sp>
        <p:nvSpPr>
          <p:cNvPr id="20" name="Text 16"/>
          <p:cNvSpPr/>
          <p:nvPr/>
        </p:nvSpPr>
        <p:spPr>
          <a:xfrm>
            <a:off x="256032" y="1920240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200 samples • Features: role, deg, between, change, traffic</a:t>
            </a:r>
            <a:endParaRPr lang="en-US" sz="5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496" y="1348740"/>
            <a:ext cx="182880" cy="1463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063240" y="713232"/>
            <a:ext cx="28803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063240" y="713232"/>
            <a:ext cx="2880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104" y="749808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19272" y="7132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 Diff + Graph Analytics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3136392" y="1024128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Detected: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3136392" y="1152144"/>
            <a:ext cx="2734056" cy="237744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191256" y="115214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BGP_CHANGE  •  neighbor 2.2.2.2 REMOVED from Core1</a:t>
            </a:r>
            <a:endParaRPr lang="en-US" sz="600" dirty="0"/>
          </a:p>
        </p:txBody>
      </p:sp>
      <p:sp>
        <p:nvSpPr>
          <p:cNvPr id="29" name="Text 23"/>
          <p:cNvSpPr/>
          <p:nvPr/>
        </p:nvSpPr>
        <p:spPr>
          <a:xfrm>
            <a:off x="3136392" y="1463040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 Centrality (Core1):</a:t>
            </a:r>
            <a:endParaRPr lang="en-US" sz="6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456699"/>
              </p:ext>
            </p:extLst>
          </p:nvPr>
        </p:nvGraphicFramePr>
        <p:xfrm>
          <a:off x="3136392" y="1600200"/>
          <a:ext cx="2651760" cy="8763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Centrality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Betweenness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(Core=2)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Load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1348740"/>
            <a:ext cx="182880" cy="146304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2505456"/>
            <a:ext cx="182880" cy="128016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182880" y="2688336"/>
            <a:ext cx="260604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0"/>
          <p:cNvSpPr/>
          <p:nvPr/>
        </p:nvSpPr>
        <p:spPr>
          <a:xfrm>
            <a:off x="182880" y="2688336"/>
            <a:ext cx="2606040" cy="256032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44" y="2724912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38912" y="268833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SHAP Explainability</a:t>
            </a:r>
            <a:endParaRPr lang="en-US" sz="750" dirty="0"/>
          </a:p>
        </p:txBody>
      </p:sp>
      <p:sp>
        <p:nvSpPr>
          <p:cNvPr id="44" name="Text 32"/>
          <p:cNvSpPr/>
          <p:nvPr/>
        </p:nvSpPr>
        <p:spPr>
          <a:xfrm>
            <a:off x="256032" y="2999232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Contributions (Core1 BGP Demo):</a:t>
            </a:r>
            <a:endParaRPr lang="en-US" sz="650" dirty="0"/>
          </a:p>
        </p:txBody>
      </p:sp>
      <p:sp>
        <p:nvSpPr>
          <p:cNvPr id="45" name="Text 33"/>
          <p:cNvSpPr/>
          <p:nvPr/>
        </p:nvSpPr>
        <p:spPr>
          <a:xfrm>
            <a:off x="256032" y="316382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(Core=2)</a:t>
            </a:r>
            <a:endParaRPr lang="en-US" sz="550" dirty="0"/>
          </a:p>
        </p:txBody>
      </p:sp>
      <p:sp>
        <p:nvSpPr>
          <p:cNvPr id="46" name="Shape 34"/>
          <p:cNvSpPr/>
          <p:nvPr/>
        </p:nvSpPr>
        <p:spPr>
          <a:xfrm>
            <a:off x="1371600" y="3182112"/>
            <a:ext cx="1120140" cy="10058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5"/>
          <p:cNvSpPr/>
          <p:nvPr/>
        </p:nvSpPr>
        <p:spPr>
          <a:xfrm>
            <a:off x="2528316" y="316382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500" dirty="0"/>
          </a:p>
        </p:txBody>
      </p:sp>
      <p:sp>
        <p:nvSpPr>
          <p:cNvPr id="48" name="Text 36"/>
          <p:cNvSpPr/>
          <p:nvPr/>
        </p:nvSpPr>
        <p:spPr>
          <a:xfrm>
            <a:off x="256032" y="33375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(0.68)</a:t>
            </a:r>
            <a:endParaRPr lang="en-US" sz="550" dirty="0"/>
          </a:p>
        </p:txBody>
      </p:sp>
      <p:sp>
        <p:nvSpPr>
          <p:cNvPr id="49" name="Shape 37"/>
          <p:cNvSpPr/>
          <p:nvPr/>
        </p:nvSpPr>
        <p:spPr>
          <a:xfrm>
            <a:off x="1371600" y="3355848"/>
            <a:ext cx="896112" cy="10058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8"/>
          <p:cNvSpPr/>
          <p:nvPr/>
        </p:nvSpPr>
        <p:spPr>
          <a:xfrm>
            <a:off x="2304288" y="333756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500" dirty="0"/>
          </a:p>
        </p:txBody>
      </p:sp>
      <p:sp>
        <p:nvSpPr>
          <p:cNvPr id="51" name="Text 39"/>
          <p:cNvSpPr/>
          <p:nvPr/>
        </p:nvSpPr>
        <p:spPr>
          <a:xfrm>
            <a:off x="256032" y="351129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(0.44)</a:t>
            </a:r>
            <a:endParaRPr lang="en-US" sz="550" dirty="0"/>
          </a:p>
        </p:txBody>
      </p:sp>
      <p:sp>
        <p:nvSpPr>
          <p:cNvPr id="52" name="Shape 40"/>
          <p:cNvSpPr/>
          <p:nvPr/>
        </p:nvSpPr>
        <p:spPr>
          <a:xfrm>
            <a:off x="1371600" y="3529584"/>
            <a:ext cx="704088" cy="10058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1"/>
          <p:cNvSpPr/>
          <p:nvPr/>
        </p:nvSpPr>
        <p:spPr>
          <a:xfrm>
            <a:off x="2112264" y="351129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500" dirty="0"/>
          </a:p>
        </p:txBody>
      </p:sp>
      <p:sp>
        <p:nvSpPr>
          <p:cNvPr id="54" name="Text 42"/>
          <p:cNvSpPr/>
          <p:nvPr/>
        </p:nvSpPr>
        <p:spPr>
          <a:xfrm>
            <a:off x="256032" y="368503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(40%)</a:t>
            </a:r>
            <a:endParaRPr lang="en-US" sz="550" dirty="0"/>
          </a:p>
        </p:txBody>
      </p:sp>
      <p:sp>
        <p:nvSpPr>
          <p:cNvPr id="55" name="Shape 43"/>
          <p:cNvSpPr/>
          <p:nvPr/>
        </p:nvSpPr>
        <p:spPr>
          <a:xfrm>
            <a:off x="1371600" y="3703320"/>
            <a:ext cx="576072" cy="100584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4"/>
          <p:cNvSpPr/>
          <p:nvPr/>
        </p:nvSpPr>
        <p:spPr>
          <a:xfrm>
            <a:off x="1984248" y="36850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500" dirty="0"/>
          </a:p>
        </p:txBody>
      </p:sp>
      <p:sp>
        <p:nvSpPr>
          <p:cNvPr id="57" name="Text 45"/>
          <p:cNvSpPr/>
          <p:nvPr/>
        </p:nvSpPr>
        <p:spPr>
          <a:xfrm>
            <a:off x="256032" y="385876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(BGP)</a:t>
            </a:r>
            <a:endParaRPr lang="en-US" sz="550" dirty="0"/>
          </a:p>
        </p:txBody>
      </p:sp>
      <p:sp>
        <p:nvSpPr>
          <p:cNvPr id="58" name="Shape 46"/>
          <p:cNvSpPr/>
          <p:nvPr/>
        </p:nvSpPr>
        <p:spPr>
          <a:xfrm>
            <a:off x="1371600" y="3877056"/>
            <a:ext cx="480060" cy="1005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47"/>
          <p:cNvSpPr/>
          <p:nvPr/>
        </p:nvSpPr>
        <p:spPr>
          <a:xfrm>
            <a:off x="1888236" y="38587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500" dirty="0"/>
          </a:p>
        </p:txBody>
      </p:sp>
      <p:sp>
        <p:nvSpPr>
          <p:cNvPr id="60" name="Text 48"/>
          <p:cNvSpPr/>
          <p:nvPr/>
        </p:nvSpPr>
        <p:spPr>
          <a:xfrm>
            <a:off x="256032" y="4041648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"Core role + high betweenness = full network impact"</a:t>
            </a:r>
            <a:endParaRPr lang="en-US" sz="500" dirty="0"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496" y="3369564"/>
            <a:ext cx="182880" cy="146304"/>
          </a:xfrm>
          <a:prstGeom prst="rect">
            <a:avLst/>
          </a:prstGeom>
        </p:spPr>
      </p:pic>
      <p:sp>
        <p:nvSpPr>
          <p:cNvPr id="62" name="Shape 49"/>
          <p:cNvSpPr/>
          <p:nvPr/>
        </p:nvSpPr>
        <p:spPr>
          <a:xfrm>
            <a:off x="3063240" y="2688336"/>
            <a:ext cx="288036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50"/>
          <p:cNvSpPr/>
          <p:nvPr/>
        </p:nvSpPr>
        <p:spPr>
          <a:xfrm>
            <a:off x="3063240" y="2688336"/>
            <a:ext cx="288036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8104" y="2724912"/>
            <a:ext cx="164592" cy="164592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3319272" y="268833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Blast Radius Analysis</a:t>
            </a:r>
            <a:endParaRPr lang="en-US" sz="750" dirty="0"/>
          </a:p>
        </p:txBody>
      </p:sp>
      <p:sp>
        <p:nvSpPr>
          <p:cNvPr id="66" name="Text 52"/>
          <p:cNvSpPr/>
          <p:nvPr/>
        </p:nvSpPr>
        <p:spPr>
          <a:xfrm>
            <a:off x="3200400" y="30083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67" name="Text 53"/>
          <p:cNvSpPr/>
          <p:nvPr/>
        </p:nvSpPr>
        <p:spPr>
          <a:xfrm>
            <a:off x="3200400" y="3374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</a:t>
            </a:r>
            <a:endParaRPr lang="en-US" sz="550" dirty="0"/>
          </a:p>
        </p:txBody>
      </p:sp>
      <p:sp>
        <p:nvSpPr>
          <p:cNvPr id="68" name="Text 54"/>
          <p:cNvSpPr/>
          <p:nvPr/>
        </p:nvSpPr>
        <p:spPr>
          <a:xfrm>
            <a:off x="4069080" y="30083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69" name="Text 55"/>
          <p:cNvSpPr/>
          <p:nvPr/>
        </p:nvSpPr>
        <p:spPr>
          <a:xfrm>
            <a:off x="4069080" y="3374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endParaRPr lang="en-US" sz="550" dirty="0"/>
          </a:p>
        </p:txBody>
      </p:sp>
      <p:sp>
        <p:nvSpPr>
          <p:cNvPr id="70" name="Text 56"/>
          <p:cNvSpPr/>
          <p:nvPr/>
        </p:nvSpPr>
        <p:spPr>
          <a:xfrm>
            <a:off x="4937760" y="29992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Devices:</a:t>
            </a:r>
            <a:endParaRPr lang="en-US" sz="600" dirty="0"/>
          </a:p>
        </p:txBody>
      </p:sp>
      <p:sp>
        <p:nvSpPr>
          <p:cNvPr id="71" name="Shape 57"/>
          <p:cNvSpPr/>
          <p:nvPr/>
        </p:nvSpPr>
        <p:spPr>
          <a:xfrm>
            <a:off x="4983480" y="3159252"/>
            <a:ext cx="45720" cy="457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58"/>
          <p:cNvSpPr/>
          <p:nvPr/>
        </p:nvSpPr>
        <p:spPr>
          <a:xfrm>
            <a:off x="5074920" y="314553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Core1</a:t>
            </a:r>
            <a:endParaRPr lang="en-US" sz="500" dirty="0"/>
          </a:p>
        </p:txBody>
      </p:sp>
      <p:sp>
        <p:nvSpPr>
          <p:cNvPr id="73" name="Shape 59"/>
          <p:cNvSpPr/>
          <p:nvPr/>
        </p:nvSpPr>
        <p:spPr>
          <a:xfrm>
            <a:off x="4983480" y="3250692"/>
            <a:ext cx="45720" cy="457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0"/>
          <p:cNvSpPr/>
          <p:nvPr/>
        </p:nvSpPr>
        <p:spPr>
          <a:xfrm>
            <a:off x="5074920" y="323697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Core2</a:t>
            </a:r>
            <a:endParaRPr lang="en-US" sz="500" dirty="0"/>
          </a:p>
        </p:txBody>
      </p:sp>
      <p:sp>
        <p:nvSpPr>
          <p:cNvPr id="75" name="Shape 61"/>
          <p:cNvSpPr/>
          <p:nvPr/>
        </p:nvSpPr>
        <p:spPr>
          <a:xfrm>
            <a:off x="4983480" y="334213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2"/>
          <p:cNvSpPr/>
          <p:nvPr/>
        </p:nvSpPr>
        <p:spPr>
          <a:xfrm>
            <a:off x="5074920" y="33284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Agg1</a:t>
            </a:r>
            <a:endParaRPr lang="en-US" sz="500" dirty="0"/>
          </a:p>
        </p:txBody>
      </p:sp>
      <p:sp>
        <p:nvSpPr>
          <p:cNvPr id="77" name="Shape 63"/>
          <p:cNvSpPr/>
          <p:nvPr/>
        </p:nvSpPr>
        <p:spPr>
          <a:xfrm>
            <a:off x="4983480" y="343357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64"/>
          <p:cNvSpPr/>
          <p:nvPr/>
        </p:nvSpPr>
        <p:spPr>
          <a:xfrm>
            <a:off x="5074920" y="341985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Agg2</a:t>
            </a:r>
            <a:endParaRPr lang="en-US" sz="500" dirty="0"/>
          </a:p>
        </p:txBody>
      </p:sp>
      <p:sp>
        <p:nvSpPr>
          <p:cNvPr id="79" name="Shape 65"/>
          <p:cNvSpPr/>
          <p:nvPr/>
        </p:nvSpPr>
        <p:spPr>
          <a:xfrm>
            <a:off x="4983480" y="352501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66"/>
          <p:cNvSpPr/>
          <p:nvPr/>
        </p:nvSpPr>
        <p:spPr>
          <a:xfrm>
            <a:off x="5074920" y="351129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Edge1</a:t>
            </a:r>
            <a:endParaRPr lang="en-US" sz="500" dirty="0"/>
          </a:p>
        </p:txBody>
      </p:sp>
      <p:sp>
        <p:nvSpPr>
          <p:cNvPr id="81" name="Shape 67"/>
          <p:cNvSpPr/>
          <p:nvPr/>
        </p:nvSpPr>
        <p:spPr>
          <a:xfrm>
            <a:off x="4983480" y="361645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8"/>
          <p:cNvSpPr/>
          <p:nvPr/>
        </p:nvSpPr>
        <p:spPr>
          <a:xfrm>
            <a:off x="5074920" y="360273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Edge2</a:t>
            </a:r>
            <a:endParaRPr lang="en-US" sz="500" dirty="0"/>
          </a:p>
        </p:txBody>
      </p:sp>
      <p:sp>
        <p:nvSpPr>
          <p:cNvPr id="83" name="Shape 69"/>
          <p:cNvSpPr/>
          <p:nvPr/>
        </p:nvSpPr>
        <p:spPr>
          <a:xfrm>
            <a:off x="4983480" y="370789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0"/>
          <p:cNvSpPr/>
          <p:nvPr/>
        </p:nvSpPr>
        <p:spPr>
          <a:xfrm>
            <a:off x="5074920" y="369417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Edge3</a:t>
            </a:r>
            <a:endParaRPr lang="en-US" sz="500" dirty="0"/>
          </a:p>
        </p:txBody>
      </p:sp>
      <p:sp>
        <p:nvSpPr>
          <p:cNvPr id="85" name="Shape 71"/>
          <p:cNvSpPr/>
          <p:nvPr/>
        </p:nvSpPr>
        <p:spPr>
          <a:xfrm>
            <a:off x="4983480" y="379933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2"/>
          <p:cNvSpPr/>
          <p:nvPr/>
        </p:nvSpPr>
        <p:spPr>
          <a:xfrm>
            <a:off x="5074920" y="37856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Access1</a:t>
            </a:r>
            <a:endParaRPr lang="en-US" sz="500" dirty="0"/>
          </a:p>
        </p:txBody>
      </p:sp>
      <p:sp>
        <p:nvSpPr>
          <p:cNvPr id="87" name="Shape 73"/>
          <p:cNvSpPr/>
          <p:nvPr/>
        </p:nvSpPr>
        <p:spPr>
          <a:xfrm>
            <a:off x="4983480" y="389077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74"/>
          <p:cNvSpPr/>
          <p:nvPr/>
        </p:nvSpPr>
        <p:spPr>
          <a:xfrm>
            <a:off x="5074920" y="387705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Access2</a:t>
            </a:r>
            <a:endParaRPr lang="en-US" sz="500" dirty="0"/>
          </a:p>
        </p:txBody>
      </p:sp>
      <p:sp>
        <p:nvSpPr>
          <p:cNvPr id="89" name="Shape 75"/>
          <p:cNvSpPr/>
          <p:nvPr/>
        </p:nvSpPr>
        <p:spPr>
          <a:xfrm>
            <a:off x="4983480" y="398221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76"/>
          <p:cNvSpPr/>
          <p:nvPr/>
        </p:nvSpPr>
        <p:spPr>
          <a:xfrm>
            <a:off x="5074920" y="396849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Access3</a:t>
            </a:r>
            <a:endParaRPr lang="en-US" sz="500" dirty="0"/>
          </a:p>
        </p:txBody>
      </p:sp>
      <p:sp>
        <p:nvSpPr>
          <p:cNvPr id="91" name="Shape 77"/>
          <p:cNvSpPr/>
          <p:nvPr/>
        </p:nvSpPr>
        <p:spPr>
          <a:xfrm>
            <a:off x="3136392" y="3675888"/>
            <a:ext cx="1691640" cy="43891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78"/>
          <p:cNvSpPr/>
          <p:nvPr/>
        </p:nvSpPr>
        <p:spPr>
          <a:xfrm>
            <a:off x="3191256" y="369417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Logic:</a:t>
            </a:r>
            <a:endParaRPr lang="en-US" sz="550" dirty="0"/>
          </a:p>
        </p:txBody>
      </p:sp>
      <p:sp>
        <p:nvSpPr>
          <p:cNvPr id="93" name="Text 79"/>
          <p:cNvSpPr/>
          <p:nvPr/>
        </p:nvSpPr>
        <p:spPr>
          <a:xfrm>
            <a:off x="3191256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routers connect to all Agg nodes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propagates to ALL layers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traversal: full topology impact</a:t>
            </a:r>
            <a:endParaRPr lang="en-US" sz="500" dirty="0"/>
          </a:p>
        </p:txBody>
      </p:sp>
      <p:pic>
        <p:nvPicPr>
          <p:cNvPr id="94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369564"/>
            <a:ext cx="182880" cy="146304"/>
          </a:xfrm>
          <a:prstGeom prst="rect">
            <a:avLst/>
          </a:prstGeom>
        </p:spPr>
      </p:pic>
      <p:sp>
        <p:nvSpPr>
          <p:cNvPr id="95" name="Shape 80"/>
          <p:cNvSpPr/>
          <p:nvPr/>
        </p:nvSpPr>
        <p:spPr>
          <a:xfrm>
            <a:off x="6217920" y="2688336"/>
            <a:ext cx="274320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Shape 81"/>
          <p:cNvSpPr/>
          <p:nvPr/>
        </p:nvSpPr>
        <p:spPr>
          <a:xfrm>
            <a:off x="6217920" y="2688336"/>
            <a:ext cx="274320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2724912"/>
            <a:ext cx="164592" cy="164592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6473952" y="268833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AI Advisory Output</a:t>
            </a:r>
            <a:endParaRPr lang="en-US" sz="750" dirty="0"/>
          </a:p>
        </p:txBody>
      </p:sp>
      <p:sp>
        <p:nvSpPr>
          <p:cNvPr id="99" name="Shape 83"/>
          <p:cNvSpPr/>
          <p:nvPr/>
        </p:nvSpPr>
        <p:spPr>
          <a:xfrm>
            <a:off x="6355080" y="301752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84"/>
          <p:cNvSpPr/>
          <p:nvPr/>
        </p:nvSpPr>
        <p:spPr>
          <a:xfrm>
            <a:off x="6355080" y="3017520"/>
            <a:ext cx="36576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85"/>
          <p:cNvSpPr/>
          <p:nvPr/>
        </p:nvSpPr>
        <p:spPr>
          <a:xfrm>
            <a:off x="6492240" y="30358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2000" dirty="0"/>
          </a:p>
        </p:txBody>
      </p:sp>
      <p:sp>
        <p:nvSpPr>
          <p:cNvPr id="102" name="Text 86"/>
          <p:cNvSpPr/>
          <p:nvPr/>
        </p:nvSpPr>
        <p:spPr>
          <a:xfrm>
            <a:off x="6492240" y="323697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103" name="Shape 87"/>
          <p:cNvSpPr/>
          <p:nvPr/>
        </p:nvSpPr>
        <p:spPr>
          <a:xfrm>
            <a:off x="7269480" y="3072384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88"/>
          <p:cNvSpPr/>
          <p:nvPr/>
        </p:nvSpPr>
        <p:spPr>
          <a:xfrm>
            <a:off x="7269480" y="30723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</a:t>
            </a:r>
            <a:endParaRPr lang="en-US" sz="1100" dirty="0"/>
          </a:p>
        </p:txBody>
      </p:sp>
      <p:sp>
        <p:nvSpPr>
          <p:cNvPr id="105" name="Text 89"/>
          <p:cNvSpPr/>
          <p:nvPr/>
        </p:nvSpPr>
        <p:spPr>
          <a:xfrm>
            <a:off x="8092440" y="30723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06" name="Text 90"/>
          <p:cNvSpPr/>
          <p:nvPr/>
        </p:nvSpPr>
        <p:spPr>
          <a:xfrm>
            <a:off x="6355080" y="351129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</a:t>
            </a:r>
            <a:endParaRPr lang="en-US" sz="550" dirty="0"/>
          </a:p>
        </p:txBody>
      </p:sp>
      <p:sp>
        <p:nvSpPr>
          <p:cNvPr id="107" name="Text 91"/>
          <p:cNvSpPr/>
          <p:nvPr/>
        </p:nvSpPr>
        <p:spPr>
          <a:xfrm>
            <a:off x="7223760" y="3511296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Core1 (Core)</a:t>
            </a:r>
            <a:endParaRPr lang="en-US" sz="550" dirty="0"/>
          </a:p>
        </p:txBody>
      </p:sp>
      <p:sp>
        <p:nvSpPr>
          <p:cNvPr id="108" name="Text 92"/>
          <p:cNvSpPr/>
          <p:nvPr/>
        </p:nvSpPr>
        <p:spPr>
          <a:xfrm>
            <a:off x="6355080" y="363931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Type:</a:t>
            </a:r>
            <a:endParaRPr lang="en-US" sz="550" dirty="0"/>
          </a:p>
        </p:txBody>
      </p:sp>
      <p:sp>
        <p:nvSpPr>
          <p:cNvPr id="109" name="Text 93"/>
          <p:cNvSpPr/>
          <p:nvPr/>
        </p:nvSpPr>
        <p:spPr>
          <a:xfrm>
            <a:off x="7223760" y="363931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BGP_CHANGE</a:t>
            </a:r>
            <a:endParaRPr lang="en-US" sz="550" dirty="0"/>
          </a:p>
        </p:txBody>
      </p:sp>
      <p:sp>
        <p:nvSpPr>
          <p:cNvPr id="110" name="Text 94"/>
          <p:cNvSpPr/>
          <p:nvPr/>
        </p:nvSpPr>
        <p:spPr>
          <a:xfrm>
            <a:off x="6355080" y="376732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Load:</a:t>
            </a:r>
            <a:endParaRPr lang="en-US" sz="550" dirty="0"/>
          </a:p>
        </p:txBody>
      </p:sp>
      <p:sp>
        <p:nvSpPr>
          <p:cNvPr id="111" name="Text 95"/>
          <p:cNvSpPr/>
          <p:nvPr/>
        </p:nvSpPr>
        <p:spPr>
          <a:xfrm>
            <a:off x="7223760" y="3767328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50" dirty="0"/>
          </a:p>
        </p:txBody>
      </p:sp>
      <p:sp>
        <p:nvSpPr>
          <p:cNvPr id="112" name="Text 96"/>
          <p:cNvSpPr/>
          <p:nvPr/>
        </p:nvSpPr>
        <p:spPr>
          <a:xfrm>
            <a:off x="6355080" y="389534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550" dirty="0"/>
          </a:p>
        </p:txBody>
      </p:sp>
      <p:sp>
        <p:nvSpPr>
          <p:cNvPr id="113" name="Text 97"/>
          <p:cNvSpPr/>
          <p:nvPr/>
        </p:nvSpPr>
        <p:spPr>
          <a:xfrm>
            <a:off x="7223760" y="3895344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rollout + maintenance window</a:t>
            </a:r>
            <a:endParaRPr lang="en-US" sz="550" dirty="0"/>
          </a:p>
        </p:txBody>
      </p:sp>
      <p:sp>
        <p:nvSpPr>
          <p:cNvPr id="114" name="Text 98"/>
          <p:cNvSpPr/>
          <p:nvPr/>
        </p:nvSpPr>
        <p:spPr>
          <a:xfrm>
            <a:off x="6355080" y="402336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550" dirty="0"/>
          </a:p>
        </p:txBody>
      </p:sp>
      <p:sp>
        <p:nvSpPr>
          <p:cNvPr id="115" name="Text 99"/>
          <p:cNvSpPr/>
          <p:nvPr/>
        </p:nvSpPr>
        <p:spPr>
          <a:xfrm>
            <a:off x="7223760" y="4023360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→ Human-in-the-Loop approval</a:t>
            </a:r>
            <a:endParaRPr lang="en-US" sz="550" dirty="0"/>
          </a:p>
        </p:txBody>
      </p:sp>
      <p:sp>
        <p:nvSpPr>
          <p:cNvPr id="116" name="Shape 100"/>
          <p:cNvSpPr/>
          <p:nvPr/>
        </p:nvSpPr>
        <p:spPr>
          <a:xfrm>
            <a:off x="182880" y="4398264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4471416"/>
            <a:ext cx="146304" cy="146304"/>
          </a:xfrm>
          <a:prstGeom prst="rect">
            <a:avLst/>
          </a:prstGeom>
        </p:spPr>
      </p:pic>
      <p:sp>
        <p:nvSpPr>
          <p:cNvPr id="118" name="Text 101"/>
          <p:cNvSpPr/>
          <p:nvPr/>
        </p:nvSpPr>
        <p:spPr>
          <a:xfrm>
            <a:off x="365760" y="44531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650" dirty="0"/>
          </a:p>
        </p:txBody>
      </p:sp>
      <p:sp>
        <p:nvSpPr>
          <p:cNvPr id="119" name="Shape 102"/>
          <p:cNvSpPr/>
          <p:nvPr/>
        </p:nvSpPr>
        <p:spPr>
          <a:xfrm>
            <a:off x="82296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03"/>
          <p:cNvSpPr/>
          <p:nvPr/>
        </p:nvSpPr>
        <p:spPr>
          <a:xfrm>
            <a:off x="91440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Alpit Tare</a:t>
            </a:r>
            <a:endParaRPr lang="en-US" sz="650" dirty="0"/>
          </a:p>
        </p:txBody>
      </p:sp>
      <p:sp>
        <p:nvSpPr>
          <p:cNvPr id="121" name="Shape 104"/>
          <p:cNvSpPr/>
          <p:nvPr/>
        </p:nvSpPr>
        <p:spPr>
          <a:xfrm>
            <a:off x="201168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05"/>
          <p:cNvSpPr/>
          <p:nvPr/>
        </p:nvSpPr>
        <p:spPr>
          <a:xfrm>
            <a:off x="210312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Sawale</a:t>
            </a:r>
            <a:endParaRPr lang="en-US" sz="650" dirty="0"/>
          </a:p>
        </p:txBody>
      </p:sp>
      <p:sp>
        <p:nvSpPr>
          <p:cNvPr id="123" name="Shape 106"/>
          <p:cNvSpPr/>
          <p:nvPr/>
        </p:nvSpPr>
        <p:spPr>
          <a:xfrm>
            <a:off x="320040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07"/>
          <p:cNvSpPr/>
          <p:nvPr/>
        </p:nvSpPr>
        <p:spPr>
          <a:xfrm>
            <a:off x="329184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Kanhaiya Chowdhari</a:t>
            </a:r>
            <a:endParaRPr lang="en-US" sz="650" dirty="0"/>
          </a:p>
        </p:txBody>
      </p:sp>
      <p:sp>
        <p:nvSpPr>
          <p:cNvPr id="125" name="Shape 108"/>
          <p:cNvSpPr/>
          <p:nvPr/>
        </p:nvSpPr>
        <p:spPr>
          <a:xfrm>
            <a:off x="438912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09"/>
          <p:cNvSpPr/>
          <p:nvPr/>
        </p:nvSpPr>
        <p:spPr>
          <a:xfrm>
            <a:off x="448056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 Khan</a:t>
            </a:r>
            <a:endParaRPr lang="en-US" sz="650" dirty="0"/>
          </a:p>
        </p:txBody>
      </p:sp>
      <p:sp>
        <p:nvSpPr>
          <p:cNvPr id="127" name="Shape 110"/>
          <p:cNvSpPr/>
          <p:nvPr/>
        </p:nvSpPr>
        <p:spPr>
          <a:xfrm>
            <a:off x="557784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11"/>
          <p:cNvSpPr/>
          <p:nvPr/>
        </p:nvSpPr>
        <p:spPr>
          <a:xfrm>
            <a:off x="566928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Menino D'costa</a:t>
            </a:r>
            <a:endParaRPr lang="en-US" sz="650" dirty="0"/>
          </a:p>
        </p:txBody>
      </p:sp>
      <p:sp>
        <p:nvSpPr>
          <p:cNvPr id="129" name="Shape 112"/>
          <p:cNvSpPr/>
          <p:nvPr/>
        </p:nvSpPr>
        <p:spPr>
          <a:xfrm>
            <a:off x="676656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13"/>
          <p:cNvSpPr/>
          <p:nvPr/>
        </p:nvSpPr>
        <p:spPr>
          <a:xfrm>
            <a:off x="685800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 Gudadari</a:t>
            </a:r>
            <a:endParaRPr lang="en-US" sz="650" dirty="0"/>
          </a:p>
        </p:txBody>
      </p:sp>
      <p:sp>
        <p:nvSpPr>
          <p:cNvPr id="131" name="Shape 1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15"/>
          <p:cNvSpPr/>
          <p:nvPr/>
        </p:nvSpPr>
        <p:spPr>
          <a:xfrm>
            <a:off x="182880" y="4828032"/>
            <a:ext cx="8778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FastAPI  •  Streamlit  •  scikit-learn  •  XGBoost  •  NetworkX  •  SHAP  •  Pandas  •  Matplotlib  •  OpenAI LLM Agent</a:t>
            </a:r>
            <a:endParaRPr lang="en-US" sz="600" dirty="0"/>
          </a:p>
        </p:txBody>
      </p:sp>
      <p:sp>
        <p:nvSpPr>
          <p:cNvPr id="133" name="Text 116"/>
          <p:cNvSpPr/>
          <p:nvPr/>
        </p:nvSpPr>
        <p:spPr>
          <a:xfrm>
            <a:off x="182880" y="4974336"/>
            <a:ext cx="8778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10 devices  •  11 topology links  •  20 services  •  200 training samples  •  8 device configs  •  3 proposed change files</a:t>
            </a:r>
            <a:endParaRPr lang="en-US" sz="500" dirty="0"/>
          </a:p>
        </p:txBody>
      </p:sp>
      <p:sp>
        <p:nvSpPr>
          <p:cNvPr id="134" name="Shape 24">
            <a:extLst>
              <a:ext uri="{FF2B5EF4-FFF2-40B4-BE49-F238E27FC236}">
                <a16:creationId xmlns:a16="http://schemas.microsoft.com/office/drawing/2014/main" id="{88C94A8B-E72C-4C29-7AE9-8E489E3A1BC5}"/>
              </a:ext>
            </a:extLst>
          </p:cNvPr>
          <p:cNvSpPr/>
          <p:nvPr/>
        </p:nvSpPr>
        <p:spPr>
          <a:xfrm>
            <a:off x="6217920" y="713232"/>
            <a:ext cx="274320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5" name="Shape 25">
            <a:extLst>
              <a:ext uri="{FF2B5EF4-FFF2-40B4-BE49-F238E27FC236}">
                <a16:creationId xmlns:a16="http://schemas.microsoft.com/office/drawing/2014/main" id="{9A2B11D7-3F37-070E-1C49-02B0E1E319C3}"/>
              </a:ext>
            </a:extLst>
          </p:cNvPr>
          <p:cNvSpPr/>
          <p:nvPr/>
        </p:nvSpPr>
        <p:spPr>
          <a:xfrm>
            <a:off x="6217920" y="713232"/>
            <a:ext cx="274320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6" name="Image 5" descr="preencoded.png">
            <a:extLst>
              <a:ext uri="{FF2B5EF4-FFF2-40B4-BE49-F238E27FC236}">
                <a16:creationId xmlns:a16="http://schemas.microsoft.com/office/drawing/2014/main" id="{342B25ED-9F19-1ED9-4BC9-0553A2B772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749808"/>
            <a:ext cx="164592" cy="164592"/>
          </a:xfrm>
          <a:prstGeom prst="rect">
            <a:avLst/>
          </a:prstGeom>
        </p:spPr>
      </p:pic>
      <p:sp>
        <p:nvSpPr>
          <p:cNvPr id="137" name="Text 26">
            <a:extLst>
              <a:ext uri="{FF2B5EF4-FFF2-40B4-BE49-F238E27FC236}">
                <a16:creationId xmlns:a16="http://schemas.microsoft.com/office/drawing/2014/main" id="{36010E81-0C11-06E9-8768-35C2A45EB094}"/>
              </a:ext>
            </a:extLst>
          </p:cNvPr>
          <p:cNvSpPr/>
          <p:nvPr/>
        </p:nvSpPr>
        <p:spPr>
          <a:xfrm>
            <a:off x="6473952" y="7132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ML Risk Scoring</a:t>
            </a:r>
            <a:endParaRPr lang="en-US" sz="750" dirty="0"/>
          </a:p>
        </p:txBody>
      </p:sp>
      <p:graphicFrame>
        <p:nvGraphicFramePr>
          <p:cNvPr id="138" name="Table 1">
            <a:extLst>
              <a:ext uri="{FF2B5EF4-FFF2-40B4-BE49-F238E27FC236}">
                <a16:creationId xmlns:a16="http://schemas.microsoft.com/office/drawing/2014/main" id="{D0EE248D-70AB-5DCF-8F4B-F01F68A72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739757"/>
              </p:ext>
            </p:extLst>
          </p:nvPr>
        </p:nvGraphicFramePr>
        <p:xfrm>
          <a:off x="6291072" y="1024128"/>
          <a:ext cx="2523744" cy="1402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</a:t>
                      </a: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9" name="Shape 27">
            <a:extLst>
              <a:ext uri="{FF2B5EF4-FFF2-40B4-BE49-F238E27FC236}">
                <a16:creationId xmlns:a16="http://schemas.microsoft.com/office/drawing/2014/main" id="{2F8C3002-CC1B-7DD8-EF09-1BE921E55AC8}"/>
              </a:ext>
            </a:extLst>
          </p:cNvPr>
          <p:cNvSpPr/>
          <p:nvPr/>
        </p:nvSpPr>
        <p:spPr>
          <a:xfrm>
            <a:off x="6272784" y="2414016"/>
            <a:ext cx="2596896" cy="18288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Text 28">
            <a:extLst>
              <a:ext uri="{FF2B5EF4-FFF2-40B4-BE49-F238E27FC236}">
                <a16:creationId xmlns:a16="http://schemas.microsoft.com/office/drawing/2014/main" id="{C1F68AED-3E84-EF5A-7BA3-99193C22AF13}"/>
              </a:ext>
            </a:extLst>
          </p:cNvPr>
          <p:cNvSpPr/>
          <p:nvPr/>
        </p:nvSpPr>
        <p:spPr>
          <a:xfrm>
            <a:off x="6327648" y="241401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 → 85.40%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ab56b7-6ec4-4073-8d92-ac7cc2e7a5df}" enabled="1" method="Privileged" siteId="{49dfc6a3-5fb7-49f4-adea-c54e725bb8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637</Words>
  <Application>Microsoft Office PowerPoint</Application>
  <PresentationFormat>On-screen Show (16:9)</PresentationFormat>
  <Paragraphs>153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Network Change Safety Guardian</dc:title>
  <dc:subject>PptxGenJS Presentation</dc:subject>
  <dc:creator>BlastGuard-AI Team</dc:creator>
  <cp:lastModifiedBy>Alpit Chandrakant Tare</cp:lastModifiedBy>
  <cp:revision>2</cp:revision>
  <dcterms:created xsi:type="dcterms:W3CDTF">2026-03-26T13:56:21Z</dcterms:created>
  <dcterms:modified xsi:type="dcterms:W3CDTF">2026-03-26T14:59:30Z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General</vt:lpwstr>
  </property>
</Properties>
</file>